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 type="screen16x9"/>
  <p:notesSz cx="6858000" cy="9144000"/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8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presProps" Target="presProps.xml"  /><Relationship Id="rId14" Type="http://schemas.openxmlformats.org/officeDocument/2006/relationships/viewProps" Target="viewProps.xml"  /><Relationship Id="rId15" Type="http://schemas.openxmlformats.org/officeDocument/2006/relationships/theme" Target="theme/theme1.xml"  /><Relationship Id="rId16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1905000"/>
            <a:ext cx="6096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sz="1500" b="1">
                <a:solidFill>
                  <a:srgbClr val="9fb6e8"/>
                </a:solidFill>
                <a:latin typeface="맑은 고딕"/>
                <a:ea typeface="맑은 고딕"/>
                <a:cs typeface="맑은 고딕"/>
              </a:rPr>
              <a:t>설계프로젝트1</a:t>
            </a:r>
            <a:endParaRPr lang="ko-KR" sz="1500" b="1">
              <a:solidFill>
                <a:srgbClr val="9fb6e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Shape 3"/>
          <p:cNvSpPr txBox="1"/>
          <p:nvPr/>
        </p:nvSpPr>
        <p:spPr>
          <a:xfrm>
            <a:off x="685800" y="2247900"/>
            <a:ext cx="62865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4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폰 센서 기반</a:t>
            </a:r>
            <a:br>
              <a:rPr lang="ko-KR" sz="4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</a:br>
            <a:r>
              <a:rPr lang="ko-KR" sz="4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영상 손떨림 보정(EIS)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685800" y="3733800"/>
            <a:ext cx="62865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sz="1800">
                <a:solidFill>
                  <a:srgbClr val="c9d6f5"/>
                </a:solidFill>
                <a:latin typeface="맑은 고딕"/>
                <a:ea typeface="맑은 고딕"/>
                <a:cs typeface="맑은 고딕"/>
              </a:rPr>
              <a:t>갤럭시</a:t>
            </a:r>
            <a:r>
              <a:rPr lang="ko-KR" altLang="en-US" sz="1800">
                <a:solidFill>
                  <a:srgbClr val="c9d6f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sz="1800">
                <a:solidFill>
                  <a:srgbClr val="c9d6f5"/>
                </a:solidFill>
                <a:latin typeface="맑은 고딕"/>
                <a:ea typeface="맑은 고딕"/>
                <a:cs typeface="맑은 고딕"/>
              </a:rPr>
              <a:t>기본 안정화를 기준으로 정량 비교</a:t>
            </a:r>
            <a:r>
              <a:rPr lang="ko-KR" altLang="en-US" sz="1800">
                <a:solidFill>
                  <a:srgbClr val="c9d6f5"/>
                </a:solidFill>
                <a:latin typeface="맑은 고딕"/>
                <a:ea typeface="맑은 고딕"/>
                <a:cs typeface="맑은 고딕"/>
              </a:rPr>
              <a:t> 및 분석</a:t>
            </a:r>
            <a:endParaRPr lang="ko-KR" altLang="en-US" sz="1800">
              <a:solidFill>
                <a:srgbClr val="c9d6f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Shape 5"/>
          <p:cNvSpPr txBox="1"/>
          <p:nvPr/>
        </p:nvSpPr>
        <p:spPr>
          <a:xfrm>
            <a:off x="685800" y="605790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>
                <a:solidFill>
                  <a:srgbClr val="9fb6e8"/>
                </a:solidFill>
                <a:latin typeface="맑은 고딕"/>
                <a:ea typeface="맑은 고딕"/>
                <a:cs typeface="맑은 고딕"/>
              </a:rPr>
              <a:t>2022112595</a:t>
            </a:r>
            <a:r>
              <a:rPr lang="ko-KR" altLang="en-US" sz="1400">
                <a:solidFill>
                  <a:srgbClr val="9fb6e8"/>
                </a:solidFill>
                <a:latin typeface="맑은 고딕"/>
                <a:ea typeface="맑은 고딕"/>
                <a:cs typeface="맑은 고딕"/>
              </a:rPr>
              <a:t> 장규영</a:t>
            </a:r>
            <a:endParaRPr lang="ko-KR" altLang="en-US" sz="1400">
              <a:solidFill>
                <a:srgbClr val="9fb6e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Shape 6"/>
          <p:cNvSpPr/>
          <p:nvPr/>
        </p:nvSpPr>
        <p:spPr>
          <a:xfrm>
            <a:off x="7239000" y="1619250"/>
            <a:ext cx="4267200" cy="3619500"/>
          </a:xfrm>
          <a:prstGeom prst="roundRect">
            <a:avLst>
              <a:gd name="adj" fmla="val 3684"/>
            </a:avLst>
          </a:prstGeom>
          <a:solidFill>
            <a:srgbClr val="1A2E63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7524750" y="2398422"/>
            <a:ext cx="3695700" cy="1506540"/>
          </a:xfrm>
          <a:custGeom>
            <a:avLst/>
            <a:gdLst/>
            <a:ahLst/>
            <a:cxnLst/>
            <a:rect l="0" t="0" r="r" b="b"/>
            <a:pathLst>
              <a:path w="3695700" h="1506540" fill="none">
                <a:moveTo>
                  <a:pt x="0" y="485794"/>
                </a:moveTo>
                <a:lnTo>
                  <a:pt x="41063" y="413894"/>
                </a:lnTo>
                <a:lnTo>
                  <a:pt x="82127" y="462520"/>
                </a:lnTo>
                <a:lnTo>
                  <a:pt x="123190" y="381081"/>
                </a:lnTo>
                <a:lnTo>
                  <a:pt x="164253" y="365256"/>
                </a:lnTo>
                <a:lnTo>
                  <a:pt x="205317" y="534763"/>
                </a:lnTo>
                <a:lnTo>
                  <a:pt x="246380" y="769879"/>
                </a:lnTo>
                <a:lnTo>
                  <a:pt x="287443" y="572251"/>
                </a:lnTo>
                <a:lnTo>
                  <a:pt x="328507" y="294187"/>
                </a:lnTo>
                <a:lnTo>
                  <a:pt x="369570" y="294767"/>
                </a:lnTo>
                <a:lnTo>
                  <a:pt x="410633" y="288281"/>
                </a:lnTo>
                <a:lnTo>
                  <a:pt x="451697" y="255127"/>
                </a:lnTo>
                <a:lnTo>
                  <a:pt x="492760" y="213936"/>
                </a:lnTo>
                <a:lnTo>
                  <a:pt x="533823" y="462308"/>
                </a:lnTo>
                <a:lnTo>
                  <a:pt x="574887" y="574679"/>
                </a:lnTo>
                <a:lnTo>
                  <a:pt x="615950" y="413723"/>
                </a:lnTo>
                <a:lnTo>
                  <a:pt x="657013" y="285787"/>
                </a:lnTo>
                <a:lnTo>
                  <a:pt x="698077" y="269166"/>
                </a:lnTo>
                <a:lnTo>
                  <a:pt x="739140" y="241138"/>
                </a:lnTo>
                <a:lnTo>
                  <a:pt x="780203" y="43004"/>
                </a:lnTo>
                <a:lnTo>
                  <a:pt x="821267" y="85813"/>
                </a:lnTo>
                <a:lnTo>
                  <a:pt x="862330" y="401781"/>
                </a:lnTo>
                <a:lnTo>
                  <a:pt x="903393" y="466946"/>
                </a:lnTo>
                <a:lnTo>
                  <a:pt x="944457" y="382012"/>
                </a:lnTo>
                <a:lnTo>
                  <a:pt x="985520" y="215870"/>
                </a:lnTo>
                <a:lnTo>
                  <a:pt x="1026583" y="289386"/>
                </a:lnTo>
                <a:lnTo>
                  <a:pt x="1067647" y="237717"/>
                </a:lnTo>
                <a:lnTo>
                  <a:pt x="1108710" y="0"/>
                </a:lnTo>
                <a:lnTo>
                  <a:pt x="1149773" y="130907"/>
                </a:lnTo>
                <a:lnTo>
                  <a:pt x="1190837" y="407135"/>
                </a:lnTo>
                <a:lnTo>
                  <a:pt x="1231900" y="440681"/>
                </a:lnTo>
                <a:lnTo>
                  <a:pt x="1272963" y="325620"/>
                </a:lnTo>
                <a:lnTo>
                  <a:pt x="1314027" y="325971"/>
                </a:lnTo>
                <a:lnTo>
                  <a:pt x="1355090" y="303580"/>
                </a:lnTo>
                <a:lnTo>
                  <a:pt x="1396153" y="238250"/>
                </a:lnTo>
                <a:lnTo>
                  <a:pt x="1437217" y="63971"/>
                </a:lnTo>
                <a:lnTo>
                  <a:pt x="1478280" y="215130"/>
                </a:lnTo>
                <a:lnTo>
                  <a:pt x="1519343" y="425386"/>
                </a:lnTo>
                <a:lnTo>
                  <a:pt x="1560407" y="533151"/>
                </a:lnTo>
                <a:lnTo>
                  <a:pt x="1601470" y="413348"/>
                </a:lnTo>
                <a:lnTo>
                  <a:pt x="1642533" y="429676"/>
                </a:lnTo>
                <a:lnTo>
                  <a:pt x="1683597" y="531651"/>
                </a:lnTo>
                <a:lnTo>
                  <a:pt x="1724660" y="379368"/>
                </a:lnTo>
                <a:lnTo>
                  <a:pt x="1765723" y="240449"/>
                </a:lnTo>
                <a:lnTo>
                  <a:pt x="1806787" y="380860"/>
                </a:lnTo>
                <a:lnTo>
                  <a:pt x="1847850" y="656118"/>
                </a:lnTo>
                <a:lnTo>
                  <a:pt x="1888913" y="692875"/>
                </a:lnTo>
                <a:lnTo>
                  <a:pt x="1929977" y="610138"/>
                </a:lnTo>
                <a:lnTo>
                  <a:pt x="1971040" y="735433"/>
                </a:lnTo>
                <a:lnTo>
                  <a:pt x="2012103" y="708096"/>
                </a:lnTo>
                <a:lnTo>
                  <a:pt x="2053167" y="556427"/>
                </a:lnTo>
                <a:lnTo>
                  <a:pt x="2094230" y="412913"/>
                </a:lnTo>
                <a:lnTo>
                  <a:pt x="2135293" y="525377"/>
                </a:lnTo>
                <a:lnTo>
                  <a:pt x="2176357" y="795975"/>
                </a:lnTo>
                <a:lnTo>
                  <a:pt x="2217420" y="845996"/>
                </a:lnTo>
                <a:lnTo>
                  <a:pt x="2258483" y="820544"/>
                </a:lnTo>
                <a:lnTo>
                  <a:pt x="2299547" y="916201"/>
                </a:lnTo>
                <a:lnTo>
                  <a:pt x="2340610" y="994866"/>
                </a:lnTo>
                <a:lnTo>
                  <a:pt x="2381673" y="690810"/>
                </a:lnTo>
                <a:lnTo>
                  <a:pt x="2422737" y="652269"/>
                </a:lnTo>
                <a:lnTo>
                  <a:pt x="2463800" y="753381"/>
                </a:lnTo>
                <a:lnTo>
                  <a:pt x="2504863" y="938749"/>
                </a:lnTo>
                <a:lnTo>
                  <a:pt x="2545927" y="1028562"/>
                </a:lnTo>
                <a:lnTo>
                  <a:pt x="2586990" y="991861"/>
                </a:lnTo>
                <a:lnTo>
                  <a:pt x="2628053" y="1184732"/>
                </a:lnTo>
                <a:lnTo>
                  <a:pt x="2669117" y="1151935"/>
                </a:lnTo>
                <a:lnTo>
                  <a:pt x="2710180" y="964430"/>
                </a:lnTo>
                <a:lnTo>
                  <a:pt x="2751243" y="851998"/>
                </a:lnTo>
                <a:lnTo>
                  <a:pt x="2792307" y="1004415"/>
                </a:lnTo>
                <a:lnTo>
                  <a:pt x="2833370" y="1069229"/>
                </a:lnTo>
                <a:lnTo>
                  <a:pt x="2874433" y="1133144"/>
                </a:lnTo>
                <a:lnTo>
                  <a:pt x="2915497" y="1162234"/>
                </a:lnTo>
                <a:lnTo>
                  <a:pt x="2956560" y="1319649"/>
                </a:lnTo>
                <a:lnTo>
                  <a:pt x="2997623" y="1269965"/>
                </a:lnTo>
                <a:lnTo>
                  <a:pt x="3038687" y="1069647"/>
                </a:lnTo>
                <a:lnTo>
                  <a:pt x="3079750" y="981765"/>
                </a:lnTo>
                <a:lnTo>
                  <a:pt x="3120813" y="1110923"/>
                </a:lnTo>
                <a:lnTo>
                  <a:pt x="3161877" y="1162060"/>
                </a:lnTo>
                <a:lnTo>
                  <a:pt x="3202940" y="1203842"/>
                </a:lnTo>
                <a:lnTo>
                  <a:pt x="3244003" y="1268165"/>
                </a:lnTo>
                <a:lnTo>
                  <a:pt x="3285067" y="1444235"/>
                </a:lnTo>
                <a:lnTo>
                  <a:pt x="3326130" y="1351653"/>
                </a:lnTo>
                <a:lnTo>
                  <a:pt x="3367193" y="1168912"/>
                </a:lnTo>
                <a:lnTo>
                  <a:pt x="3408257" y="1017353"/>
                </a:lnTo>
                <a:lnTo>
                  <a:pt x="3449320" y="1210904"/>
                </a:lnTo>
                <a:lnTo>
                  <a:pt x="3490383" y="1195985"/>
                </a:lnTo>
                <a:lnTo>
                  <a:pt x="3531447" y="1142764"/>
                </a:lnTo>
                <a:lnTo>
                  <a:pt x="3572510" y="1277162"/>
                </a:lnTo>
                <a:lnTo>
                  <a:pt x="3613573" y="1506540"/>
                </a:lnTo>
                <a:lnTo>
                  <a:pt x="3654637" y="1328629"/>
                </a:lnTo>
                <a:lnTo>
                  <a:pt x="3695700" y="1112749"/>
                </a:lnTo>
              </a:path>
            </a:pathLst>
          </a:custGeom>
          <a:noFill/>
          <a:ln w="20320" cap="rnd">
            <a:solidFill>
              <a:srgbClr val="6F86C9"/>
            </a:solidFill>
            <a:round/>
          </a:ln>
        </p:spPr>
      </p:sp>
      <p:sp>
        <p:nvSpPr>
          <p:cNvPr id="8" name="Freeform 8"/>
          <p:cNvSpPr/>
          <p:nvPr/>
        </p:nvSpPr>
        <p:spPr>
          <a:xfrm>
            <a:off x="7524750" y="2648000"/>
            <a:ext cx="3695700" cy="990501"/>
          </a:xfrm>
          <a:custGeom>
            <a:avLst/>
            <a:gdLst/>
            <a:ahLst/>
            <a:cxnLst/>
            <a:rect l="0" t="0" r="r" b="b"/>
            <a:pathLst>
              <a:path w="3695700" h="990501" fill="none">
                <a:moveTo>
                  <a:pt x="0" y="348879"/>
                </a:moveTo>
                <a:lnTo>
                  <a:pt x="41063" y="324316"/>
                </a:lnTo>
                <a:lnTo>
                  <a:pt x="82127" y="300220"/>
                </a:lnTo>
                <a:lnTo>
                  <a:pt x="123190" y="276660"/>
                </a:lnTo>
                <a:lnTo>
                  <a:pt x="164253" y="253698"/>
                </a:lnTo>
                <a:lnTo>
                  <a:pt x="205317" y="231399"/>
                </a:lnTo>
                <a:lnTo>
                  <a:pt x="246380" y="209823"/>
                </a:lnTo>
                <a:lnTo>
                  <a:pt x="287443" y="189029"/>
                </a:lnTo>
                <a:lnTo>
                  <a:pt x="328507" y="169075"/>
                </a:lnTo>
                <a:lnTo>
                  <a:pt x="369570" y="150014"/>
                </a:lnTo>
                <a:lnTo>
                  <a:pt x="410633" y="131900"/>
                </a:lnTo>
                <a:lnTo>
                  <a:pt x="451697" y="114782"/>
                </a:lnTo>
                <a:lnTo>
                  <a:pt x="492760" y="98706"/>
                </a:lnTo>
                <a:lnTo>
                  <a:pt x="533823" y="83718"/>
                </a:lnTo>
                <a:lnTo>
                  <a:pt x="574887" y="69857"/>
                </a:lnTo>
                <a:lnTo>
                  <a:pt x="615950" y="57163"/>
                </a:lnTo>
                <a:lnTo>
                  <a:pt x="657013" y="45669"/>
                </a:lnTo>
                <a:lnTo>
                  <a:pt x="698077" y="35407"/>
                </a:lnTo>
                <a:lnTo>
                  <a:pt x="739140" y="26406"/>
                </a:lnTo>
                <a:lnTo>
                  <a:pt x="780203" y="18690"/>
                </a:lnTo>
                <a:lnTo>
                  <a:pt x="821267" y="12280"/>
                </a:lnTo>
                <a:lnTo>
                  <a:pt x="862330" y="7194"/>
                </a:lnTo>
                <a:lnTo>
                  <a:pt x="903393" y="3446"/>
                </a:lnTo>
                <a:lnTo>
                  <a:pt x="944457" y="1046"/>
                </a:lnTo>
                <a:lnTo>
                  <a:pt x="985520" y="0"/>
                </a:lnTo>
                <a:lnTo>
                  <a:pt x="1026583" y="312"/>
                </a:lnTo>
                <a:lnTo>
                  <a:pt x="1067647" y="1980"/>
                </a:lnTo>
                <a:lnTo>
                  <a:pt x="1108710" y="5000"/>
                </a:lnTo>
                <a:lnTo>
                  <a:pt x="1149773" y="9364"/>
                </a:lnTo>
                <a:lnTo>
                  <a:pt x="1190837" y="15060"/>
                </a:lnTo>
                <a:lnTo>
                  <a:pt x="1231900" y="22072"/>
                </a:lnTo>
                <a:lnTo>
                  <a:pt x="1272963" y="30381"/>
                </a:lnTo>
                <a:lnTo>
                  <a:pt x="1314027" y="39964"/>
                </a:lnTo>
                <a:lnTo>
                  <a:pt x="1355090" y="50795"/>
                </a:lnTo>
                <a:lnTo>
                  <a:pt x="1396153" y="62845"/>
                </a:lnTo>
                <a:lnTo>
                  <a:pt x="1437217" y="76079"/>
                </a:lnTo>
                <a:lnTo>
                  <a:pt x="1478280" y="90462"/>
                </a:lnTo>
                <a:lnTo>
                  <a:pt x="1519343" y="105955"/>
                </a:lnTo>
                <a:lnTo>
                  <a:pt x="1560407" y="122515"/>
                </a:lnTo>
                <a:lnTo>
                  <a:pt x="1601470" y="140097"/>
                </a:lnTo>
                <a:lnTo>
                  <a:pt x="1642533" y="158652"/>
                </a:lnTo>
                <a:lnTo>
                  <a:pt x="1683597" y="178129"/>
                </a:lnTo>
                <a:lnTo>
                  <a:pt x="1724660" y="198476"/>
                </a:lnTo>
                <a:lnTo>
                  <a:pt x="1765723" y="219636"/>
                </a:lnTo>
                <a:lnTo>
                  <a:pt x="1806787" y="241552"/>
                </a:lnTo>
                <a:lnTo>
                  <a:pt x="1847850" y="264163"/>
                </a:lnTo>
                <a:lnTo>
                  <a:pt x="1888913" y="287407"/>
                </a:lnTo>
                <a:lnTo>
                  <a:pt x="1929977" y="311221"/>
                </a:lnTo>
                <a:lnTo>
                  <a:pt x="1971040" y="335540"/>
                </a:lnTo>
                <a:lnTo>
                  <a:pt x="2012103" y="360296"/>
                </a:lnTo>
                <a:lnTo>
                  <a:pt x="2053167" y="385422"/>
                </a:lnTo>
                <a:lnTo>
                  <a:pt x="2094230" y="410850"/>
                </a:lnTo>
                <a:lnTo>
                  <a:pt x="2135293" y="436508"/>
                </a:lnTo>
                <a:lnTo>
                  <a:pt x="2176357" y="462328"/>
                </a:lnTo>
                <a:lnTo>
                  <a:pt x="2217420" y="488238"/>
                </a:lnTo>
                <a:lnTo>
                  <a:pt x="2258483" y="514167"/>
                </a:lnTo>
                <a:lnTo>
                  <a:pt x="2299547" y="540044"/>
                </a:lnTo>
                <a:lnTo>
                  <a:pt x="2340610" y="565798"/>
                </a:lnTo>
                <a:lnTo>
                  <a:pt x="2381673" y="591359"/>
                </a:lnTo>
                <a:lnTo>
                  <a:pt x="2422737" y="616657"/>
                </a:lnTo>
                <a:lnTo>
                  <a:pt x="2463800" y="641622"/>
                </a:lnTo>
                <a:lnTo>
                  <a:pt x="2504863" y="666185"/>
                </a:lnTo>
                <a:lnTo>
                  <a:pt x="2545927" y="690280"/>
                </a:lnTo>
                <a:lnTo>
                  <a:pt x="2586990" y="713841"/>
                </a:lnTo>
                <a:lnTo>
                  <a:pt x="2628053" y="736802"/>
                </a:lnTo>
                <a:lnTo>
                  <a:pt x="2669117" y="759102"/>
                </a:lnTo>
                <a:lnTo>
                  <a:pt x="2710180" y="780678"/>
                </a:lnTo>
                <a:lnTo>
                  <a:pt x="2751243" y="801471"/>
                </a:lnTo>
                <a:lnTo>
                  <a:pt x="2792307" y="821426"/>
                </a:lnTo>
                <a:lnTo>
                  <a:pt x="2833370" y="840486"/>
                </a:lnTo>
                <a:lnTo>
                  <a:pt x="2874433" y="858601"/>
                </a:lnTo>
                <a:lnTo>
                  <a:pt x="2915497" y="875719"/>
                </a:lnTo>
                <a:lnTo>
                  <a:pt x="2956560" y="891794"/>
                </a:lnTo>
                <a:lnTo>
                  <a:pt x="2997623" y="906783"/>
                </a:lnTo>
                <a:lnTo>
                  <a:pt x="3038687" y="920643"/>
                </a:lnTo>
                <a:lnTo>
                  <a:pt x="3079750" y="933338"/>
                </a:lnTo>
                <a:lnTo>
                  <a:pt x="3120813" y="944832"/>
                </a:lnTo>
                <a:lnTo>
                  <a:pt x="3161877" y="955093"/>
                </a:lnTo>
                <a:lnTo>
                  <a:pt x="3202940" y="964094"/>
                </a:lnTo>
                <a:lnTo>
                  <a:pt x="3244003" y="971810"/>
                </a:lnTo>
                <a:lnTo>
                  <a:pt x="3285067" y="978220"/>
                </a:lnTo>
                <a:lnTo>
                  <a:pt x="3326130" y="983306"/>
                </a:lnTo>
                <a:lnTo>
                  <a:pt x="3367193" y="987055"/>
                </a:lnTo>
                <a:lnTo>
                  <a:pt x="3408257" y="989455"/>
                </a:lnTo>
                <a:lnTo>
                  <a:pt x="3449320" y="990501"/>
                </a:lnTo>
                <a:lnTo>
                  <a:pt x="3490383" y="990189"/>
                </a:lnTo>
                <a:lnTo>
                  <a:pt x="3531447" y="988521"/>
                </a:lnTo>
                <a:lnTo>
                  <a:pt x="3572510" y="985500"/>
                </a:lnTo>
                <a:lnTo>
                  <a:pt x="3613573" y="981136"/>
                </a:lnTo>
                <a:lnTo>
                  <a:pt x="3654637" y="975441"/>
                </a:lnTo>
                <a:lnTo>
                  <a:pt x="3695700" y="968429"/>
                </a:lnTo>
              </a:path>
            </a:pathLst>
          </a:custGeom>
          <a:noFill/>
          <a:ln w="50800" cap="rnd">
            <a:solidFill>
              <a:srgbClr val="9FC0FF"/>
            </a:solidFill>
            <a:round/>
          </a:ln>
        </p:spPr>
      </p:sp>
      <p:cxnSp>
        <p:nvCxnSpPr>
          <p:cNvPr id="9" name="Line 9"/>
          <p:cNvCxnSpPr/>
          <p:nvPr/>
        </p:nvCxnSpPr>
        <p:spPr>
          <a:xfrm>
            <a:off x="7581900" y="4876800"/>
            <a:ext cx="285750" cy="0"/>
          </a:xfrm>
          <a:prstGeom prst="line">
            <a:avLst/>
          </a:prstGeom>
          <a:ln w="20320">
            <a:solidFill>
              <a:srgbClr val="6F86C9"/>
            </a:solidFill>
          </a:ln>
        </p:spPr>
      </p:cxnSp>
      <p:sp>
        <p:nvSpPr>
          <p:cNvPr id="10" name="Shape 10"/>
          <p:cNvSpPr txBox="1"/>
          <p:nvPr/>
        </p:nvSpPr>
        <p:spPr>
          <a:xfrm>
            <a:off x="7943850" y="4772025"/>
            <a:ext cx="1143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C9D6F5"/>
                </a:solidFill>
                <a:latin typeface="맑은 고딕"/>
                <a:ea typeface="맑은 고딕"/>
                <a:cs typeface="맑은 고딕"/>
              </a:rPr>
              <a:t>흔들린 경로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9201150" y="4876800"/>
            <a:ext cx="285750" cy="0"/>
          </a:xfrm>
          <a:prstGeom prst="line">
            <a:avLst/>
          </a:prstGeom>
          <a:ln w="50800">
            <a:solidFill>
              <a:srgbClr val="9FC0FF"/>
            </a:solidFill>
          </a:ln>
        </p:spPr>
      </p:cxnSp>
      <p:sp>
        <p:nvSpPr>
          <p:cNvPr id="12" name="Shape 12"/>
          <p:cNvSpPr txBox="1"/>
          <p:nvPr/>
        </p:nvSpPr>
        <p:spPr>
          <a:xfrm>
            <a:off x="9563100" y="4772025"/>
            <a:ext cx="1524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C9D6F5"/>
                </a:solidFill>
                <a:latin typeface="맑은 고딕"/>
                <a:ea typeface="맑은 고딕"/>
                <a:cs typeface="맑은 고딕"/>
              </a:rPr>
              <a:t>보정된 경로</a:t>
            </a: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666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01  문제인식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685800" y="685800"/>
            <a:ext cx="108204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30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영상은 왜 흔들리고, 무엇이 문제일까?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10477500" y="6438900"/>
            <a:ext cx="10287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685800" y="1200150"/>
            <a:ext cx="108204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sz="150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폰은 OIS(렌즈 이동)와 EIS(소프트웨어 보정)로 줄이지만, 안정화 강도에 딜레마</a:t>
            </a:r>
            <a:r>
              <a:rPr lang="ko-KR" altLang="en-US" sz="150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 존재</a:t>
            </a:r>
            <a:endParaRPr lang="ko-KR" altLang="en-US" sz="1500">
              <a:solidFill>
                <a:srgbClr val="6b759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85800" y="1676400"/>
            <a:ext cx="3219450" cy="1123950"/>
          </a:xfrm>
          <a:prstGeom prst="roundRect">
            <a:avLst>
              <a:gd name="adj" fmla="val 8474"/>
            </a:avLst>
          </a:prstGeom>
          <a:solidFill>
            <a:srgbClr val="F3F6FC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895350" y="1885950"/>
            <a:ext cx="285750" cy="285750"/>
          </a:xfrm>
          <a:prstGeom prst="ellipse">
            <a:avLst/>
          </a:prstGeom>
          <a:solidFill>
            <a:srgbClr val="12224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1314450" y="1866900"/>
            <a:ext cx="24193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7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손으로 들고 찍는다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314450" y="2190750"/>
            <a:ext cx="24193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걷거나 손이 떨린다</a:t>
            </a:r>
          </a:p>
        </p:txBody>
      </p:sp>
      <p:cxnSp>
        <p:nvCxnSpPr>
          <p:cNvPr id="10" name="Line 10"/>
          <p:cNvCxnSpPr/>
          <p:nvPr/>
        </p:nvCxnSpPr>
        <p:spPr>
          <a:xfrm>
            <a:off x="4038600" y="2238375"/>
            <a:ext cx="314325" cy="0"/>
          </a:xfrm>
          <a:prstGeom prst="line">
            <a:avLst/>
          </a:prstGeom>
          <a:ln w="25400">
            <a:solidFill>
              <a:srgbClr val="3B6FE0"/>
            </a:solidFill>
            <a:tailEnd type="triangle" w="med" len="med"/>
          </a:ln>
        </p:spPr>
      </p:cxnSp>
      <p:sp>
        <p:nvSpPr>
          <p:cNvPr id="11" name="Shape 11"/>
          <p:cNvSpPr/>
          <p:nvPr/>
        </p:nvSpPr>
        <p:spPr>
          <a:xfrm>
            <a:off x="4486275" y="1676400"/>
            <a:ext cx="3219450" cy="1123950"/>
          </a:xfrm>
          <a:prstGeom prst="roundRect">
            <a:avLst>
              <a:gd name="adj" fmla="val 8474"/>
            </a:avLst>
          </a:prstGeom>
          <a:solidFill>
            <a:srgbClr val="F3F6FC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4695825" y="1885950"/>
            <a:ext cx="285750" cy="285750"/>
          </a:xfrm>
          <a:prstGeom prst="ellipse">
            <a:avLst/>
          </a:prstGeom>
          <a:solidFill>
            <a:srgbClr val="12224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5114925" y="1866900"/>
            <a:ext cx="24193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7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폰이 미세하게 흔들린다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5114925" y="2190750"/>
            <a:ext cx="24193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카메라가 조금씩 돌아간다</a:t>
            </a:r>
          </a:p>
        </p:txBody>
      </p:sp>
      <p:cxnSp>
        <p:nvCxnSpPr>
          <p:cNvPr id="15" name="Line 15"/>
          <p:cNvCxnSpPr/>
          <p:nvPr/>
        </p:nvCxnSpPr>
        <p:spPr>
          <a:xfrm>
            <a:off x="7839075" y="2238375"/>
            <a:ext cx="314325" cy="0"/>
          </a:xfrm>
          <a:prstGeom prst="line">
            <a:avLst/>
          </a:prstGeom>
          <a:ln w="25400">
            <a:solidFill>
              <a:srgbClr val="3B6FE0"/>
            </a:solidFill>
            <a:tailEnd type="triangle" w="med" len="med"/>
          </a:ln>
        </p:spPr>
      </p:cxnSp>
      <p:sp>
        <p:nvSpPr>
          <p:cNvPr id="16" name="Shape 16"/>
          <p:cNvSpPr/>
          <p:nvPr/>
        </p:nvSpPr>
        <p:spPr>
          <a:xfrm>
            <a:off x="8286750" y="1676400"/>
            <a:ext cx="3219450" cy="1123950"/>
          </a:xfrm>
          <a:prstGeom prst="roundRect">
            <a:avLst>
              <a:gd name="adj" fmla="val 8474"/>
            </a:avLst>
          </a:prstGeom>
          <a:solidFill>
            <a:srgbClr val="F3F6FC"/>
          </a:solidFill>
          <a:ln>
            <a:noFill/>
          </a:ln>
        </p:spPr>
      </p:sp>
      <p:sp>
        <p:nvSpPr>
          <p:cNvPr id="17" name="Shape 17"/>
          <p:cNvSpPr/>
          <p:nvPr/>
        </p:nvSpPr>
        <p:spPr>
          <a:xfrm>
            <a:off x="8496300" y="1885950"/>
            <a:ext cx="285750" cy="285750"/>
          </a:xfrm>
          <a:prstGeom prst="ellipse">
            <a:avLst/>
          </a:prstGeom>
          <a:solidFill>
            <a:srgbClr val="12224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8915400" y="1866900"/>
            <a:ext cx="24193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7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영상이 흔들려 보인다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8915400" y="2190750"/>
            <a:ext cx="24193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보기 불편하고 품질이 떨어진다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85800" y="3143250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8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안정화 강도의 딜레마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85800" y="35623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약함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5334000" y="3562350"/>
            <a:ext cx="1524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안정화 강도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10553700" y="35623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강함</a:t>
            </a:r>
          </a:p>
        </p:txBody>
      </p:sp>
      <p:sp>
        <p:nvSpPr>
          <p:cNvPr id="24" name="Shape 24"/>
          <p:cNvSpPr/>
          <p:nvPr/>
        </p:nvSpPr>
        <p:spPr>
          <a:xfrm>
            <a:off x="685800" y="3829050"/>
            <a:ext cx="3609975" cy="133350"/>
          </a:xfrm>
          <a:prstGeom prst="rect">
            <a:avLst/>
          </a:prstGeom>
          <a:solidFill>
            <a:srgbClr val="DCE7FB"/>
          </a:solidFill>
          <a:ln>
            <a:noFill/>
          </a:ln>
        </p:spPr>
      </p:sp>
      <p:sp>
        <p:nvSpPr>
          <p:cNvPr id="25" name="Shape 25"/>
          <p:cNvSpPr/>
          <p:nvPr/>
        </p:nvSpPr>
        <p:spPr>
          <a:xfrm>
            <a:off x="4295775" y="3829050"/>
            <a:ext cx="3600450" cy="133350"/>
          </a:xfrm>
          <a:prstGeom prst="rect">
            <a:avLst/>
          </a:prstGeom>
          <a:solidFill>
            <a:srgbClr val="8FAEF0"/>
          </a:solidFill>
          <a:ln>
            <a:noFill/>
          </a:ln>
        </p:spPr>
      </p:sp>
      <p:sp>
        <p:nvSpPr>
          <p:cNvPr id="26" name="Shape 26"/>
          <p:cNvSpPr/>
          <p:nvPr/>
        </p:nvSpPr>
        <p:spPr>
          <a:xfrm>
            <a:off x="7896225" y="3829050"/>
            <a:ext cx="3609975" cy="133350"/>
          </a:xfrm>
          <a:prstGeom prst="rect">
            <a:avLst/>
          </a:prstGeom>
          <a:solidFill>
            <a:srgbClr val="12224A"/>
          </a:solidFill>
          <a:ln>
            <a:noFill/>
          </a:ln>
        </p:spPr>
      </p:sp>
      <p:sp>
        <p:nvSpPr>
          <p:cNvPr id="27" name="Shape 27"/>
          <p:cNvSpPr txBox="1"/>
          <p:nvPr/>
        </p:nvSpPr>
        <p:spPr>
          <a:xfrm>
            <a:off x="685800" y="4152900"/>
            <a:ext cx="51435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ko-KR" sz="17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약하게 걸면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5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화면은 빨리 따라오지만 흔들림이 그대로 남는다</a:t>
            </a:r>
          </a:p>
        </p:txBody>
      </p:sp>
      <p:sp>
        <p:nvSpPr>
          <p:cNvPr id="28" name="Shape 28"/>
          <p:cNvSpPr txBox="1"/>
          <p:nvPr/>
        </p:nvSpPr>
        <p:spPr>
          <a:xfrm>
            <a:off x="6362700" y="4152900"/>
            <a:ext cx="51435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ko-KR" sz="17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세게 걸면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5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흔들림은 사라지지만 일부러 돌리는 동작(패닝)까지 뭉개져 화면이 늦게 따라오고 더 많이 잘린다</a:t>
            </a:r>
          </a:p>
        </p:txBody>
      </p:sp>
      <p:sp>
        <p:nvSpPr>
          <p:cNvPr id="29" name="Shape 29"/>
          <p:cNvSpPr/>
          <p:nvPr/>
        </p:nvSpPr>
        <p:spPr>
          <a:xfrm>
            <a:off x="685800" y="5448300"/>
            <a:ext cx="10820400" cy="571500"/>
          </a:xfrm>
          <a:prstGeom prst="roundRect">
            <a:avLst>
              <a:gd name="adj" fmla="val 16666"/>
            </a:avLst>
          </a:prstGeom>
          <a:solidFill>
            <a:srgbClr val="DCE7F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7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그렇다면, 상황에 따라 강도를 바꿀 수 있다면?</a:t>
            </a: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666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02  기본 원리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685800" y="685800"/>
            <a:ext cx="108204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30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자이로로 흔들림을 되돌린다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10477500" y="6438900"/>
            <a:ext cx="10287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5" name="Shape 5"/>
          <p:cNvSpPr/>
          <p:nvPr/>
        </p:nvSpPr>
        <p:spPr>
          <a:xfrm>
            <a:off x="685800" y="1409700"/>
            <a:ext cx="3219450" cy="2876550"/>
          </a:xfrm>
          <a:prstGeom prst="roundRect">
            <a:avLst>
              <a:gd name="adj" fmla="val 3311"/>
            </a:avLst>
          </a:prstGeom>
          <a:solidFill>
            <a:srgbClr val="F3F6FC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4486275" y="1409700"/>
            <a:ext cx="3219450" cy="2876550"/>
          </a:xfrm>
          <a:prstGeom prst="roundRect">
            <a:avLst>
              <a:gd name="adj" fmla="val 3311"/>
            </a:avLst>
          </a:prstGeom>
          <a:solidFill>
            <a:srgbClr val="F3F6FC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8286750" y="1409700"/>
            <a:ext cx="3219450" cy="2876550"/>
          </a:xfrm>
          <a:prstGeom prst="roundRect">
            <a:avLst>
              <a:gd name="adj" fmla="val 3311"/>
            </a:avLst>
          </a:prstGeom>
          <a:solidFill>
            <a:srgbClr val="F3F6FC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1104900" y="1619250"/>
            <a:ext cx="590550" cy="1104900"/>
          </a:xfrm>
          <a:prstGeom prst="roundRect">
            <a:avLst>
              <a:gd name="adj" fmla="val 19354"/>
            </a:avLst>
          </a:prstGeom>
          <a:noFill/>
          <a:ln w="31750">
            <a:solidFill>
              <a:srgbClr val="12224A"/>
            </a:solidFill>
          </a:ln>
        </p:spPr>
      </p:sp>
      <p:sp>
        <p:nvSpPr>
          <p:cNvPr id="9" name="Shape 9"/>
          <p:cNvSpPr/>
          <p:nvPr/>
        </p:nvSpPr>
        <p:spPr>
          <a:xfrm>
            <a:off x="1343025" y="1714500"/>
            <a:ext cx="114300" cy="114300"/>
          </a:xfrm>
          <a:prstGeom prst="ellipse">
            <a:avLst/>
          </a:prstGeom>
          <a:solidFill>
            <a:srgbClr val="12224A"/>
          </a:solidFill>
          <a:ln>
            <a:noFill/>
          </a:ln>
        </p:spPr>
      </p:sp>
      <p:cxnSp>
        <p:nvCxnSpPr>
          <p:cNvPr id="10" name="Line 10"/>
          <p:cNvCxnSpPr/>
          <p:nvPr/>
        </p:nvCxnSpPr>
        <p:spPr>
          <a:xfrm>
            <a:off x="2876550" y="2209800"/>
            <a:ext cx="742950" cy="0"/>
          </a:xfrm>
          <a:prstGeom prst="line">
            <a:avLst/>
          </a:prstGeom>
          <a:ln w="27940">
            <a:solidFill>
              <a:srgbClr val="3B6FE0"/>
            </a:solidFill>
            <a:tailEnd type="triangle" w="med" len="med"/>
          </a:ln>
        </p:spPr>
      </p:cxnSp>
      <p:cxnSp>
        <p:nvCxnSpPr>
          <p:cNvPr id="11" name="Line 11"/>
          <p:cNvCxnSpPr/>
          <p:nvPr/>
        </p:nvCxnSpPr>
        <p:spPr>
          <a:xfrm flipV="1">
            <a:off x="2876550" y="1619250"/>
            <a:ext cx="0" cy="590550"/>
          </a:xfrm>
          <a:prstGeom prst="line">
            <a:avLst/>
          </a:prstGeom>
          <a:ln w="27940">
            <a:solidFill>
              <a:srgbClr val="3B6FE0"/>
            </a:solidFill>
            <a:tailEnd type="triangle" w="med" len="med"/>
          </a:ln>
        </p:spPr>
      </p:cxnSp>
      <p:cxnSp>
        <p:nvCxnSpPr>
          <p:cNvPr id="12" name="Line 12"/>
          <p:cNvCxnSpPr/>
          <p:nvPr/>
        </p:nvCxnSpPr>
        <p:spPr>
          <a:xfrm flipH="1">
            <a:off x="2495550" y="2209800"/>
            <a:ext cx="381000" cy="342900"/>
          </a:xfrm>
          <a:prstGeom prst="line">
            <a:avLst/>
          </a:prstGeom>
          <a:ln w="27940">
            <a:solidFill>
              <a:srgbClr val="3B6FE0"/>
            </a:solidFill>
            <a:tailEnd type="triangle" w="med" len="med"/>
          </a:ln>
        </p:spPr>
      </p:cxnSp>
      <p:sp>
        <p:nvSpPr>
          <p:cNvPr id="13" name="Shape 13"/>
          <p:cNvSpPr txBox="1"/>
          <p:nvPr/>
        </p:nvSpPr>
        <p:spPr>
          <a:xfrm>
            <a:off x="3657600" y="211455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2933700" y="14859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y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2324100" y="253365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z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876300" y="281940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카메라 + 자이로(각속도)를 동시에 기록</a:t>
            </a:r>
          </a:p>
        </p:txBody>
      </p:sp>
      <p:cxnSp>
        <p:nvCxnSpPr>
          <p:cNvPr id="17" name="Line 17"/>
          <p:cNvCxnSpPr/>
          <p:nvPr/>
        </p:nvCxnSpPr>
        <p:spPr>
          <a:xfrm>
            <a:off x="4867275" y="2667000"/>
            <a:ext cx="2476500" cy="0"/>
          </a:xfrm>
          <a:prstGeom prst="line">
            <a:avLst/>
          </a:prstGeom>
          <a:ln w="19050">
            <a:solidFill>
              <a:srgbClr val="6B7591"/>
            </a:solidFill>
          </a:ln>
        </p:spPr>
      </p:cxnSp>
      <p:cxnSp>
        <p:nvCxnSpPr>
          <p:cNvPr id="18" name="Line 18"/>
          <p:cNvCxnSpPr/>
          <p:nvPr/>
        </p:nvCxnSpPr>
        <p:spPr>
          <a:xfrm flipV="1">
            <a:off x="4867275" y="1600200"/>
            <a:ext cx="0" cy="1066800"/>
          </a:xfrm>
          <a:prstGeom prst="line">
            <a:avLst/>
          </a:prstGeom>
          <a:ln w="19050">
            <a:solidFill>
              <a:srgbClr val="6B7591"/>
            </a:solidFill>
          </a:ln>
        </p:spPr>
      </p:cxnSp>
      <p:sp>
        <p:nvSpPr>
          <p:cNvPr id="19" name="Freeform 19"/>
          <p:cNvSpPr/>
          <p:nvPr/>
        </p:nvSpPr>
        <p:spPr>
          <a:xfrm>
            <a:off x="4924425" y="1863363"/>
            <a:ext cx="2362200" cy="659822"/>
          </a:xfrm>
          <a:custGeom>
            <a:avLst/>
            <a:gdLst/>
            <a:ahLst/>
            <a:cxnLst/>
            <a:rect l="0" t="0" r="r" b="b"/>
            <a:pathLst>
              <a:path w="2362200" h="659822" fill="none">
                <a:moveTo>
                  <a:pt x="0" y="335606"/>
                </a:moveTo>
                <a:lnTo>
                  <a:pt x="39370" y="236919"/>
                </a:lnTo>
                <a:lnTo>
                  <a:pt x="78740" y="193237"/>
                </a:lnTo>
                <a:lnTo>
                  <a:pt x="118110" y="261564"/>
                </a:lnTo>
                <a:lnTo>
                  <a:pt x="157480" y="304215"/>
                </a:lnTo>
                <a:lnTo>
                  <a:pt x="196850" y="277459"/>
                </a:lnTo>
                <a:lnTo>
                  <a:pt x="236220" y="208819"/>
                </a:lnTo>
                <a:lnTo>
                  <a:pt x="275590" y="103048"/>
                </a:lnTo>
                <a:lnTo>
                  <a:pt x="314960" y="78012"/>
                </a:lnTo>
                <a:lnTo>
                  <a:pt x="354330" y="120501"/>
                </a:lnTo>
                <a:lnTo>
                  <a:pt x="393700" y="210061"/>
                </a:lnTo>
                <a:lnTo>
                  <a:pt x="433070" y="185459"/>
                </a:lnTo>
                <a:lnTo>
                  <a:pt x="472440" y="116754"/>
                </a:lnTo>
                <a:lnTo>
                  <a:pt x="511810" y="1173"/>
                </a:lnTo>
                <a:lnTo>
                  <a:pt x="551180" y="0"/>
                </a:lnTo>
                <a:lnTo>
                  <a:pt x="590550" y="97536"/>
                </a:lnTo>
                <a:lnTo>
                  <a:pt x="629920" y="113679"/>
                </a:lnTo>
                <a:lnTo>
                  <a:pt x="669290" y="114207"/>
                </a:lnTo>
                <a:lnTo>
                  <a:pt x="708660" y="64192"/>
                </a:lnTo>
                <a:lnTo>
                  <a:pt x="748030" y="2167"/>
                </a:lnTo>
                <a:lnTo>
                  <a:pt x="787400" y="32786"/>
                </a:lnTo>
                <a:lnTo>
                  <a:pt x="826770" y="117334"/>
                </a:lnTo>
                <a:lnTo>
                  <a:pt x="866140" y="169539"/>
                </a:lnTo>
                <a:lnTo>
                  <a:pt x="905510" y="207130"/>
                </a:lnTo>
                <a:lnTo>
                  <a:pt x="944880" y="146830"/>
                </a:lnTo>
                <a:lnTo>
                  <a:pt x="984250" y="92478"/>
                </a:lnTo>
                <a:lnTo>
                  <a:pt x="1023620" y="121936"/>
                </a:lnTo>
                <a:lnTo>
                  <a:pt x="1062990" y="187232"/>
                </a:lnTo>
                <a:lnTo>
                  <a:pt x="1102360" y="277882"/>
                </a:lnTo>
                <a:lnTo>
                  <a:pt x="1141730" y="278993"/>
                </a:lnTo>
                <a:lnTo>
                  <a:pt x="1181100" y="250859"/>
                </a:lnTo>
                <a:lnTo>
                  <a:pt x="1220470" y="200078"/>
                </a:lnTo>
                <a:lnTo>
                  <a:pt x="1259840" y="231865"/>
                </a:lnTo>
                <a:lnTo>
                  <a:pt x="1299210" y="316303"/>
                </a:lnTo>
                <a:lnTo>
                  <a:pt x="1338580" y="420154"/>
                </a:lnTo>
                <a:lnTo>
                  <a:pt x="1377950" y="454192"/>
                </a:lnTo>
                <a:lnTo>
                  <a:pt x="1417320" y="372315"/>
                </a:lnTo>
                <a:lnTo>
                  <a:pt x="1456690" y="327790"/>
                </a:lnTo>
                <a:lnTo>
                  <a:pt x="1496060" y="358847"/>
                </a:lnTo>
                <a:lnTo>
                  <a:pt x="1535430" y="455998"/>
                </a:lnTo>
                <a:lnTo>
                  <a:pt x="1574800" y="565638"/>
                </a:lnTo>
                <a:lnTo>
                  <a:pt x="1614170" y="589469"/>
                </a:lnTo>
                <a:lnTo>
                  <a:pt x="1653540" y="535833"/>
                </a:lnTo>
                <a:lnTo>
                  <a:pt x="1692910" y="495122"/>
                </a:lnTo>
                <a:lnTo>
                  <a:pt x="1732280" y="472766"/>
                </a:lnTo>
                <a:lnTo>
                  <a:pt x="1771650" y="572576"/>
                </a:lnTo>
                <a:lnTo>
                  <a:pt x="1811020" y="627609"/>
                </a:lnTo>
                <a:lnTo>
                  <a:pt x="1850390" y="659822"/>
                </a:lnTo>
                <a:lnTo>
                  <a:pt x="1889760" y="567253"/>
                </a:lnTo>
                <a:lnTo>
                  <a:pt x="1929130" y="508264"/>
                </a:lnTo>
                <a:lnTo>
                  <a:pt x="1968500" y="553952"/>
                </a:lnTo>
                <a:lnTo>
                  <a:pt x="2007870" y="610088"/>
                </a:lnTo>
                <a:lnTo>
                  <a:pt x="2047240" y="638065"/>
                </a:lnTo>
                <a:lnTo>
                  <a:pt x="2086610" y="655433"/>
                </a:lnTo>
                <a:lnTo>
                  <a:pt x="2125980" y="552275"/>
                </a:lnTo>
                <a:lnTo>
                  <a:pt x="2165350" y="504431"/>
                </a:lnTo>
                <a:lnTo>
                  <a:pt x="2204720" y="509216"/>
                </a:lnTo>
                <a:lnTo>
                  <a:pt x="2244090" y="534020"/>
                </a:lnTo>
                <a:lnTo>
                  <a:pt x="2283460" y="578398"/>
                </a:lnTo>
                <a:lnTo>
                  <a:pt x="2322830" y="587360"/>
                </a:lnTo>
                <a:lnTo>
                  <a:pt x="2362200" y="509332"/>
                </a:lnTo>
              </a:path>
            </a:pathLst>
          </a:custGeom>
          <a:noFill/>
          <a:ln w="30480" cap="rnd">
            <a:solidFill>
              <a:srgbClr val="12224A"/>
            </a:solidFill>
            <a:round/>
          </a:ln>
        </p:spPr>
      </p:sp>
      <p:sp>
        <p:nvSpPr>
          <p:cNvPr id="20" name="Shape 20"/>
          <p:cNvSpPr txBox="1"/>
          <p:nvPr/>
        </p:nvSpPr>
        <p:spPr>
          <a:xfrm>
            <a:off x="4924425" y="1504950"/>
            <a:ext cx="1143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회전 각도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7381875" y="255270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시간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4676775" y="281940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각속도를 쌓아 회전 경로를 계산</a:t>
            </a:r>
          </a:p>
        </p:txBody>
      </p:sp>
      <p:sp>
        <p:nvSpPr>
          <p:cNvPr id="23" name="Freeform 23"/>
          <p:cNvSpPr/>
          <p:nvPr/>
        </p:nvSpPr>
        <p:spPr>
          <a:xfrm>
            <a:off x="8624995" y="1709845"/>
            <a:ext cx="923710" cy="923710"/>
          </a:xfrm>
          <a:custGeom>
            <a:avLst/>
            <a:gdLst/>
            <a:ahLst/>
            <a:cxnLst/>
            <a:rect l="0" t="0" r="r" b="b"/>
            <a:pathLst>
              <a:path w="923710" h="923710" fill="none">
                <a:moveTo>
                  <a:pt x="184344" y="0"/>
                </a:moveTo>
                <a:lnTo>
                  <a:pt x="923710" y="184344"/>
                </a:lnTo>
                <a:lnTo>
                  <a:pt x="739365" y="923710"/>
                </a:lnTo>
                <a:lnTo>
                  <a:pt x="0" y="739365"/>
                </a:lnTo>
                <a:close/>
              </a:path>
            </a:pathLst>
          </a:custGeom>
          <a:noFill/>
          <a:ln w="33020" cap="rnd">
            <a:solidFill>
              <a:srgbClr val="6B7591"/>
            </a:solidFill>
            <a:round/>
          </a:ln>
        </p:spPr>
      </p:sp>
      <p:cxnSp>
        <p:nvCxnSpPr>
          <p:cNvPr id="24" name="Line 24"/>
          <p:cNvCxnSpPr/>
          <p:nvPr/>
        </p:nvCxnSpPr>
        <p:spPr>
          <a:xfrm>
            <a:off x="9639300" y="2171700"/>
            <a:ext cx="457200" cy="0"/>
          </a:xfrm>
          <a:prstGeom prst="line">
            <a:avLst/>
          </a:prstGeom>
          <a:ln w="27940">
            <a:solidFill>
              <a:srgbClr val="3B6FE0"/>
            </a:solidFill>
            <a:tailEnd type="triangle" w="med" len="med"/>
          </a:ln>
        </p:spPr>
      </p:cxnSp>
      <p:sp>
        <p:nvSpPr>
          <p:cNvPr id="25" name="Freeform 25"/>
          <p:cNvSpPr/>
          <p:nvPr/>
        </p:nvSpPr>
        <p:spPr>
          <a:xfrm>
            <a:off x="10363200" y="1790700"/>
            <a:ext cx="762000" cy="762000"/>
          </a:xfrm>
          <a:custGeom>
            <a:avLst/>
            <a:gdLst/>
            <a:ahLst/>
            <a:cxnLst/>
            <a:rect l="0" t="0" r="r" b="b"/>
            <a:pathLst>
              <a:path w="762000" h="762000" fill="none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close/>
              </a:path>
            </a:pathLst>
          </a:custGeom>
          <a:noFill/>
          <a:ln w="38100" cap="rnd">
            <a:solidFill>
              <a:srgbClr val="3B6FE0"/>
            </a:solidFill>
            <a:round/>
          </a:ln>
        </p:spPr>
      </p:sp>
      <p:sp>
        <p:nvSpPr>
          <p:cNvPr id="26" name="Shape 26"/>
          <p:cNvSpPr txBox="1"/>
          <p:nvPr/>
        </p:nvSpPr>
        <p:spPr>
          <a:xfrm>
            <a:off x="8477250" y="281940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돌아간 만큼 반대로 돌려서 다시 그림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895350" y="3105150"/>
            <a:ext cx="28003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7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① 같이 기록</a:t>
            </a:r>
          </a:p>
        </p:txBody>
      </p:sp>
      <p:sp>
        <p:nvSpPr>
          <p:cNvPr id="28" name="Shape 28"/>
          <p:cNvSpPr txBox="1"/>
          <p:nvPr/>
        </p:nvSpPr>
        <p:spPr>
          <a:xfrm>
            <a:off x="895350" y="3409950"/>
            <a:ext cx="28003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영상을 찍으면서 자이로(폰이 얼마나 돌았는지 재는 센서)도 함께 기록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4695825" y="3105150"/>
            <a:ext cx="28003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7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② 흔들림 계산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4695825" y="3409950"/>
            <a:ext cx="28003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자이로 값으로 프레임마다 카메라가 얼마나 돌아갔는지 계산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8496300" y="3105150"/>
            <a:ext cx="28003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7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③ 반대로 돌림</a:t>
            </a:r>
          </a:p>
        </p:txBody>
      </p:sp>
      <p:sp>
        <p:nvSpPr>
          <p:cNvPr id="32" name="Shape 32"/>
          <p:cNvSpPr txBox="1"/>
          <p:nvPr/>
        </p:nvSpPr>
        <p:spPr>
          <a:xfrm>
            <a:off x="8496300" y="3409950"/>
            <a:ext cx="280035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돌아간 만큼 화면을 반대로 돌려서 다시 그림</a:t>
            </a:r>
          </a:p>
        </p:txBody>
      </p:sp>
      <p:sp>
        <p:nvSpPr>
          <p:cNvPr id="33" name="Shape 33"/>
          <p:cNvSpPr/>
          <p:nvPr/>
        </p:nvSpPr>
        <p:spPr>
          <a:xfrm>
            <a:off x="685800" y="4514850"/>
            <a:ext cx="10820400" cy="1600200"/>
          </a:xfrm>
          <a:prstGeom prst="roundRect">
            <a:avLst>
              <a:gd name="adj" fmla="val 5952"/>
            </a:avLst>
          </a:prstGeom>
          <a:solidFill>
            <a:srgbClr val="dce7fb"/>
          </a:solidFill>
          <a:ln>
            <a:noFill/>
          </a:ln>
        </p:spPr>
        <p:txBody>
          <a:bodyPr wrap="square" lIns="266700" tIns="209550" rIns="266700" bIns="171450" anchor="t">
            <a:noAutofit/>
          </a:bodyPr>
          <a:lstStyle/>
          <a:p>
            <a:pPr lv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ko-KR" sz="1300" b="1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쉬운 비유</a:t>
            </a:r>
            <a:endParaRPr lang="ko-KR" sz="1300" b="1">
              <a:solidFill>
                <a:srgbClr val="3b6fe0"/>
              </a:solidFill>
              <a:latin typeface="맑은 고딕"/>
              <a:ea typeface="맑은 고딕"/>
              <a:cs typeface="맑은 고딕"/>
            </a:endParaRPr>
          </a:p>
          <a:p>
            <a:pPr lv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lang="ko-KR" sz="1700" b="1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흔들리는 배 위에서 사진을 찍고, 배가 기운 만큼 사진을 반대로 기울여 바로잡는 것</a:t>
            </a:r>
            <a:endParaRPr lang="ko-KR" sz="1700" b="1">
              <a:solidFill>
                <a:srgbClr val="12224a"/>
              </a:solidFill>
              <a:latin typeface="맑은 고딕"/>
              <a:ea typeface="맑은 고딕"/>
              <a:cs typeface="맑은 고딕"/>
            </a:endParaRPr>
          </a:p>
          <a:p>
            <a: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sz="140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자이로 기반 안정화는 이미 연구된 기법</a:t>
            </a:r>
            <a:r>
              <a:rPr lang="ko-KR" altLang="en-US" sz="140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이지만</a:t>
            </a:r>
            <a:r>
              <a:rPr lang="en-US" altLang="ko-KR" sz="140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lang="ko-KR" sz="140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 이 기본 구현 위에 최적화를 하나씩 얹어 보고, 조건별 효과를 직접 측정한다</a:t>
            </a:r>
            <a:endParaRPr lang="ko-KR" sz="1400">
              <a:solidFill>
                <a:srgbClr val="1b244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>
            <a:off x="685800" y="457200"/>
            <a:ext cx="666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03  하드웨어 조건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685800" y="685800"/>
            <a:ext cx="108204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30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품질을 좌우하는 두 가지 하드웨어 조건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10477500" y="6438900"/>
            <a:ext cx="10287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5" name="Shape 5"/>
          <p:cNvSpPr/>
          <p:nvPr/>
        </p:nvSpPr>
        <p:spPr>
          <a:xfrm>
            <a:off x="685800" y="1409700"/>
            <a:ext cx="5295900" cy="4191000"/>
          </a:xfrm>
          <a:prstGeom prst="roundRect">
            <a:avLst>
              <a:gd name="adj" fmla="val 2272"/>
            </a:avLst>
          </a:prstGeom>
          <a:solidFill>
            <a:srgbClr val="F3F6FC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6210300" y="1409700"/>
            <a:ext cx="5295900" cy="4191000"/>
          </a:xfrm>
          <a:prstGeom prst="roundRect">
            <a:avLst>
              <a:gd name="adj" fmla="val 2272"/>
            </a:avLst>
          </a:prstGeom>
          <a:solidFill>
            <a:srgbClr val="F3F6FC"/>
          </a:solidFill>
          <a:ln>
            <a:noFill/>
          </a:ln>
        </p:spPr>
      </p:sp>
      <p:sp>
        <p:nvSpPr>
          <p:cNvPr id="7" name="Shape 7"/>
          <p:cNvSpPr txBox="1"/>
          <p:nvPr/>
        </p:nvSpPr>
        <p:spPr>
          <a:xfrm>
            <a:off x="952500" y="1600200"/>
            <a:ext cx="47625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20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① 시계 맞추기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952500" y="2038350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영상 프레임</a:t>
            </a:r>
          </a:p>
        </p:txBody>
      </p:sp>
      <p:cxnSp>
        <p:nvCxnSpPr>
          <p:cNvPr id="9" name="Line 9"/>
          <p:cNvCxnSpPr/>
          <p:nvPr/>
        </p:nvCxnSpPr>
        <p:spPr>
          <a:xfrm>
            <a:off x="1924050" y="2152650"/>
            <a:ext cx="3790950" cy="0"/>
          </a:xfrm>
          <a:prstGeom prst="line">
            <a:avLst/>
          </a:prstGeom>
          <a:ln w="19050">
            <a:solidFill>
              <a:srgbClr val="6B7591"/>
            </a:solidFill>
          </a:ln>
        </p:spPr>
      </p:cxnSp>
      <p:sp>
        <p:nvSpPr>
          <p:cNvPr id="10" name="Shape 10"/>
          <p:cNvSpPr/>
          <p:nvPr/>
        </p:nvSpPr>
        <p:spPr>
          <a:xfrm>
            <a:off x="2114550" y="2038350"/>
            <a:ext cx="28575" cy="228600"/>
          </a:xfrm>
          <a:prstGeom prst="rect">
            <a:avLst/>
          </a:prstGeom>
          <a:solidFill>
            <a:srgbClr val="12224A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2743200" y="2038350"/>
            <a:ext cx="28575" cy="228600"/>
          </a:xfrm>
          <a:prstGeom prst="rect">
            <a:avLst/>
          </a:prstGeom>
          <a:solidFill>
            <a:srgbClr val="12224A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3371850" y="2038350"/>
            <a:ext cx="28575" cy="228600"/>
          </a:xfrm>
          <a:prstGeom prst="rect">
            <a:avLst/>
          </a:prstGeom>
          <a:solidFill>
            <a:srgbClr val="12224A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4000500" y="2038350"/>
            <a:ext cx="28575" cy="228600"/>
          </a:xfrm>
          <a:prstGeom prst="rect">
            <a:avLst/>
          </a:prstGeom>
          <a:solidFill>
            <a:srgbClr val="12224A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4629150" y="2038350"/>
            <a:ext cx="28575" cy="228600"/>
          </a:xfrm>
          <a:prstGeom prst="rect">
            <a:avLst/>
          </a:prstGeom>
          <a:solidFill>
            <a:srgbClr val="12224A"/>
          </a:solidFill>
          <a:ln>
            <a:noFill/>
          </a:ln>
        </p:spPr>
      </p:sp>
      <p:sp>
        <p:nvSpPr>
          <p:cNvPr id="15" name="Shape 15"/>
          <p:cNvSpPr/>
          <p:nvPr/>
        </p:nvSpPr>
        <p:spPr>
          <a:xfrm>
            <a:off x="5257800" y="2038350"/>
            <a:ext cx="28575" cy="228600"/>
          </a:xfrm>
          <a:prstGeom prst="rect">
            <a:avLst/>
          </a:prstGeom>
          <a:solidFill>
            <a:srgbClr val="12224A"/>
          </a:solidFill>
          <a:ln>
            <a:noFill/>
          </a:ln>
        </p:spPr>
      </p:sp>
      <p:sp>
        <p:nvSpPr>
          <p:cNvPr id="16" name="Shape 16"/>
          <p:cNvSpPr txBox="1"/>
          <p:nvPr/>
        </p:nvSpPr>
        <p:spPr>
          <a:xfrm>
            <a:off x="952500" y="2762250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자이로 값</a:t>
            </a:r>
          </a:p>
        </p:txBody>
      </p:sp>
      <p:cxnSp>
        <p:nvCxnSpPr>
          <p:cNvPr id="17" name="Line 17"/>
          <p:cNvCxnSpPr/>
          <p:nvPr/>
        </p:nvCxnSpPr>
        <p:spPr>
          <a:xfrm>
            <a:off x="1924050" y="2876550"/>
            <a:ext cx="3790950" cy="0"/>
          </a:xfrm>
          <a:prstGeom prst="line">
            <a:avLst/>
          </a:prstGeom>
          <a:ln w="19050">
            <a:solidFill>
              <a:srgbClr val="6B7591"/>
            </a:solidFill>
          </a:ln>
        </p:spPr>
      </p:cxnSp>
      <p:sp>
        <p:nvSpPr>
          <p:cNvPr id="18" name="Shape 18"/>
          <p:cNvSpPr/>
          <p:nvPr/>
        </p:nvSpPr>
        <p:spPr>
          <a:xfrm>
            <a:off x="2362200" y="2800350"/>
            <a:ext cx="19050" cy="152400"/>
          </a:xfrm>
          <a:prstGeom prst="rect">
            <a:avLst/>
          </a:prstGeom>
          <a:solidFill>
            <a:srgbClr val="3B6FE0"/>
          </a:solidFill>
          <a:ln>
            <a:noFill/>
          </a:ln>
        </p:spPr>
      </p:sp>
      <p:sp>
        <p:nvSpPr>
          <p:cNvPr id="19" name="Shape 19"/>
          <p:cNvSpPr/>
          <p:nvPr/>
        </p:nvSpPr>
        <p:spPr>
          <a:xfrm>
            <a:off x="2628900" y="2800350"/>
            <a:ext cx="19050" cy="152400"/>
          </a:xfrm>
          <a:prstGeom prst="rect">
            <a:avLst/>
          </a:prstGeom>
          <a:solidFill>
            <a:srgbClr val="3B6FE0"/>
          </a:solidFill>
          <a:ln>
            <a:noFill/>
          </a:ln>
        </p:spPr>
      </p:sp>
      <p:sp>
        <p:nvSpPr>
          <p:cNvPr id="20" name="Shape 20"/>
          <p:cNvSpPr/>
          <p:nvPr/>
        </p:nvSpPr>
        <p:spPr>
          <a:xfrm>
            <a:off x="2895600" y="2800350"/>
            <a:ext cx="19050" cy="152400"/>
          </a:xfrm>
          <a:prstGeom prst="rect">
            <a:avLst/>
          </a:prstGeom>
          <a:solidFill>
            <a:srgbClr val="3B6FE0"/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3162300" y="2800350"/>
            <a:ext cx="19050" cy="152400"/>
          </a:xfrm>
          <a:prstGeom prst="rect">
            <a:avLst/>
          </a:prstGeom>
          <a:solidFill>
            <a:srgbClr val="3B6FE0"/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3429000" y="2800350"/>
            <a:ext cx="19050" cy="152400"/>
          </a:xfrm>
          <a:prstGeom prst="rect">
            <a:avLst/>
          </a:prstGeom>
          <a:solidFill>
            <a:srgbClr val="3B6FE0"/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3695700" y="2800350"/>
            <a:ext cx="19050" cy="152400"/>
          </a:xfrm>
          <a:prstGeom prst="rect">
            <a:avLst/>
          </a:prstGeom>
          <a:solidFill>
            <a:srgbClr val="3B6FE0"/>
          </a:solidFill>
          <a:ln>
            <a:noFill/>
          </a:ln>
        </p:spPr>
      </p:sp>
      <p:sp>
        <p:nvSpPr>
          <p:cNvPr id="24" name="Shape 24"/>
          <p:cNvSpPr/>
          <p:nvPr/>
        </p:nvSpPr>
        <p:spPr>
          <a:xfrm>
            <a:off x="3962400" y="2800350"/>
            <a:ext cx="19050" cy="152400"/>
          </a:xfrm>
          <a:prstGeom prst="rect">
            <a:avLst/>
          </a:prstGeom>
          <a:solidFill>
            <a:srgbClr val="3B6FE0"/>
          </a:solidFill>
          <a:ln>
            <a:noFill/>
          </a:ln>
        </p:spPr>
      </p:sp>
      <p:sp>
        <p:nvSpPr>
          <p:cNvPr id="25" name="Shape 25"/>
          <p:cNvSpPr/>
          <p:nvPr/>
        </p:nvSpPr>
        <p:spPr>
          <a:xfrm>
            <a:off x="4229100" y="2800350"/>
            <a:ext cx="19050" cy="152400"/>
          </a:xfrm>
          <a:prstGeom prst="rect">
            <a:avLst/>
          </a:prstGeom>
          <a:solidFill>
            <a:srgbClr val="3B6FE0"/>
          </a:solidFill>
          <a:ln>
            <a:noFill/>
          </a:ln>
        </p:spPr>
      </p:sp>
      <p:sp>
        <p:nvSpPr>
          <p:cNvPr id="26" name="Shape 26"/>
          <p:cNvSpPr/>
          <p:nvPr/>
        </p:nvSpPr>
        <p:spPr>
          <a:xfrm>
            <a:off x="4495800" y="2800350"/>
            <a:ext cx="19050" cy="152400"/>
          </a:xfrm>
          <a:prstGeom prst="rect">
            <a:avLst/>
          </a:prstGeom>
          <a:solidFill>
            <a:srgbClr val="3B6FE0"/>
          </a:solidFill>
          <a:ln>
            <a:noFill/>
          </a:ln>
        </p:spPr>
      </p:sp>
      <p:sp>
        <p:nvSpPr>
          <p:cNvPr id="27" name="Shape 27"/>
          <p:cNvSpPr/>
          <p:nvPr/>
        </p:nvSpPr>
        <p:spPr>
          <a:xfrm>
            <a:off x="4762500" y="2800350"/>
            <a:ext cx="19050" cy="152400"/>
          </a:xfrm>
          <a:prstGeom prst="rect">
            <a:avLst/>
          </a:prstGeom>
          <a:solidFill>
            <a:srgbClr val="3B6FE0"/>
          </a:solidFill>
          <a:ln>
            <a:noFill/>
          </a:ln>
        </p:spPr>
      </p:sp>
      <p:sp>
        <p:nvSpPr>
          <p:cNvPr id="28" name="Shape 28"/>
          <p:cNvSpPr/>
          <p:nvPr/>
        </p:nvSpPr>
        <p:spPr>
          <a:xfrm>
            <a:off x="5029200" y="2800350"/>
            <a:ext cx="19050" cy="152400"/>
          </a:xfrm>
          <a:prstGeom prst="rect">
            <a:avLst/>
          </a:prstGeom>
          <a:solidFill>
            <a:srgbClr val="3B6FE0"/>
          </a:solidFill>
          <a:ln>
            <a:noFill/>
          </a:ln>
        </p:spPr>
      </p:sp>
      <p:sp>
        <p:nvSpPr>
          <p:cNvPr id="29" name="Shape 29"/>
          <p:cNvSpPr/>
          <p:nvPr/>
        </p:nvSpPr>
        <p:spPr>
          <a:xfrm>
            <a:off x="5295900" y="2800350"/>
            <a:ext cx="19050" cy="152400"/>
          </a:xfrm>
          <a:prstGeom prst="rect">
            <a:avLst/>
          </a:prstGeom>
          <a:solidFill>
            <a:srgbClr val="3B6FE0"/>
          </a:solidFill>
          <a:ln>
            <a:noFill/>
          </a:ln>
        </p:spPr>
      </p:sp>
      <p:sp>
        <p:nvSpPr>
          <p:cNvPr id="30" name="Shape 30"/>
          <p:cNvSpPr/>
          <p:nvPr/>
        </p:nvSpPr>
        <p:spPr>
          <a:xfrm>
            <a:off x="5562600" y="2800350"/>
            <a:ext cx="19050" cy="152400"/>
          </a:xfrm>
          <a:prstGeom prst="rect">
            <a:avLst/>
          </a:prstGeom>
          <a:solidFill>
            <a:srgbClr val="3B6FE0"/>
          </a:solidFill>
          <a:ln>
            <a:noFill/>
          </a:ln>
        </p:spPr>
      </p:sp>
      <p:cxnSp>
        <p:nvCxnSpPr>
          <p:cNvPr id="31" name="Line 31"/>
          <p:cNvCxnSpPr/>
          <p:nvPr/>
        </p:nvCxnSpPr>
        <p:spPr>
          <a:xfrm>
            <a:off x="2124075" y="2286000"/>
            <a:ext cx="0" cy="762000"/>
          </a:xfrm>
          <a:prstGeom prst="line">
            <a:avLst/>
          </a:prstGeom>
          <a:ln w="15240">
            <a:solidFill>
              <a:srgbClr val="3B6FE0"/>
            </a:solidFill>
            <a:prstDash val="dash"/>
          </a:ln>
        </p:spPr>
      </p:cxnSp>
      <p:cxnSp>
        <p:nvCxnSpPr>
          <p:cNvPr id="32" name="Line 32"/>
          <p:cNvCxnSpPr/>
          <p:nvPr/>
        </p:nvCxnSpPr>
        <p:spPr>
          <a:xfrm>
            <a:off x="2371725" y="2286000"/>
            <a:ext cx="0" cy="762000"/>
          </a:xfrm>
          <a:prstGeom prst="line">
            <a:avLst/>
          </a:prstGeom>
          <a:ln w="15240">
            <a:solidFill>
              <a:srgbClr val="3B6FE0"/>
            </a:solidFill>
            <a:prstDash val="dash"/>
          </a:ln>
        </p:spPr>
      </p:cxnSp>
      <p:sp>
        <p:nvSpPr>
          <p:cNvPr id="33" name="Shape 33"/>
          <p:cNvSpPr txBox="1"/>
          <p:nvPr/>
        </p:nvSpPr>
        <p:spPr>
          <a:xfrm>
            <a:off x="2457450" y="31051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δ : 수 ms 어긋남</a:t>
            </a:r>
          </a:p>
        </p:txBody>
      </p:sp>
      <p:sp>
        <p:nvSpPr>
          <p:cNvPr id="34" name="Shape 34"/>
          <p:cNvSpPr txBox="1"/>
          <p:nvPr/>
        </p:nvSpPr>
        <p:spPr>
          <a:xfrm>
            <a:off x="952500" y="3619500"/>
            <a:ext cx="4762500" cy="186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ko-KR" sz="15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영상과 자이로는 각자 다른 시계로 시각을 기록한다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ko-KR" sz="15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두 시계가 수 ms만 어긋나도 엉뚱한 타이밍에 보정이 걸린다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5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→ 어긋난 시간을 찾아서 맞춰주는 것이 핵심</a:t>
            </a:r>
          </a:p>
        </p:txBody>
      </p:sp>
      <p:sp>
        <p:nvSpPr>
          <p:cNvPr id="35" name="Shape 35"/>
          <p:cNvSpPr txBox="1"/>
          <p:nvPr/>
        </p:nvSpPr>
        <p:spPr>
          <a:xfrm>
            <a:off x="6477000" y="1600200"/>
            <a:ext cx="47625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20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② 한 줄씩 찍는 카메라</a:t>
            </a:r>
          </a:p>
        </p:txBody>
      </p:sp>
      <p:sp>
        <p:nvSpPr>
          <p:cNvPr id="36" name="Shape 36"/>
          <p:cNvSpPr/>
          <p:nvPr/>
        </p:nvSpPr>
        <p:spPr>
          <a:xfrm>
            <a:off x="7639050" y="2038350"/>
            <a:ext cx="2381250" cy="1524000"/>
          </a:xfrm>
          <a:prstGeom prst="rect">
            <a:avLst/>
          </a:prstGeom>
          <a:solidFill>
            <a:srgbClr val="FFFFFF"/>
          </a:solidFill>
          <a:ln w="31750">
            <a:solidFill>
              <a:srgbClr val="12224A"/>
            </a:solidFill>
          </a:ln>
        </p:spPr>
      </p:sp>
      <p:cxnSp>
        <p:nvCxnSpPr>
          <p:cNvPr id="37" name="Line 37"/>
          <p:cNvCxnSpPr/>
          <p:nvPr/>
        </p:nvCxnSpPr>
        <p:spPr>
          <a:xfrm>
            <a:off x="7658100" y="2207683"/>
            <a:ext cx="2343150" cy="0"/>
          </a:xfrm>
          <a:prstGeom prst="line">
            <a:avLst/>
          </a:prstGeom>
          <a:ln w="15240">
            <a:solidFill>
              <a:srgbClr val="DCE3F1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7658100" y="2377017"/>
            <a:ext cx="2343150" cy="0"/>
          </a:xfrm>
          <a:prstGeom prst="line">
            <a:avLst/>
          </a:prstGeom>
          <a:ln w="15240">
            <a:solidFill>
              <a:srgbClr val="DCE3F1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7658100" y="2546350"/>
            <a:ext cx="2343150" cy="0"/>
          </a:xfrm>
          <a:prstGeom prst="line">
            <a:avLst/>
          </a:prstGeom>
          <a:ln w="15240">
            <a:solidFill>
              <a:srgbClr val="DCE3F1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7658100" y="2715683"/>
            <a:ext cx="2343150" cy="0"/>
          </a:xfrm>
          <a:prstGeom prst="line">
            <a:avLst/>
          </a:prstGeom>
          <a:ln w="15240">
            <a:solidFill>
              <a:srgbClr val="DCE3F1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7658100" y="2885017"/>
            <a:ext cx="2343150" cy="0"/>
          </a:xfrm>
          <a:prstGeom prst="line">
            <a:avLst/>
          </a:prstGeom>
          <a:ln w="15240">
            <a:solidFill>
              <a:srgbClr val="DCE3F1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7658100" y="3054350"/>
            <a:ext cx="2343150" cy="0"/>
          </a:xfrm>
          <a:prstGeom prst="line">
            <a:avLst/>
          </a:prstGeom>
          <a:ln w="15240">
            <a:solidFill>
              <a:srgbClr val="DCE3F1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7658100" y="3223683"/>
            <a:ext cx="2343150" cy="0"/>
          </a:xfrm>
          <a:prstGeom prst="line">
            <a:avLst/>
          </a:prstGeom>
          <a:ln w="15240">
            <a:solidFill>
              <a:srgbClr val="DCE3F1"/>
            </a:solidFill>
          </a:ln>
        </p:spPr>
      </p:cxnSp>
      <p:cxnSp>
        <p:nvCxnSpPr>
          <p:cNvPr id="44" name="Line 44"/>
          <p:cNvCxnSpPr/>
          <p:nvPr/>
        </p:nvCxnSpPr>
        <p:spPr>
          <a:xfrm>
            <a:off x="7658100" y="3393017"/>
            <a:ext cx="2343150" cy="0"/>
          </a:xfrm>
          <a:prstGeom prst="line">
            <a:avLst/>
          </a:prstGeom>
          <a:ln w="15240">
            <a:solidFill>
              <a:srgbClr val="DCE3F1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10325100" y="2095500"/>
            <a:ext cx="0" cy="1409700"/>
          </a:xfrm>
          <a:prstGeom prst="line">
            <a:avLst/>
          </a:prstGeom>
          <a:ln w="30480">
            <a:solidFill>
              <a:srgbClr val="3B6FE0"/>
            </a:solidFill>
            <a:tailEnd type="triangle" w="med" len="med"/>
          </a:ln>
        </p:spPr>
      </p:cxnSp>
      <p:sp>
        <p:nvSpPr>
          <p:cNvPr id="46" name="Shape 46"/>
          <p:cNvSpPr txBox="1"/>
          <p:nvPr/>
        </p:nvSpPr>
        <p:spPr>
          <a:xfrm>
            <a:off x="10439400" y="270510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읽는 방향</a:t>
            </a:r>
          </a:p>
        </p:txBody>
      </p:sp>
      <p:sp>
        <p:nvSpPr>
          <p:cNvPr id="47" name="Shape 47"/>
          <p:cNvSpPr txBox="1"/>
          <p:nvPr/>
        </p:nvSpPr>
        <p:spPr>
          <a:xfrm>
            <a:off x="6477000" y="1962150"/>
            <a:ext cx="11049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윗줄</a:t>
            </a:r>
            <a:b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</a:b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먼저 읽힘</a:t>
            </a:r>
          </a:p>
        </p:txBody>
      </p:sp>
      <p:sp>
        <p:nvSpPr>
          <p:cNvPr id="48" name="Shape 48"/>
          <p:cNvSpPr txBox="1"/>
          <p:nvPr/>
        </p:nvSpPr>
        <p:spPr>
          <a:xfrm>
            <a:off x="6477000" y="3200400"/>
            <a:ext cx="11049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아랫줄</a:t>
            </a:r>
            <a:b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</a:b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나중에 읽힘</a:t>
            </a:r>
          </a:p>
        </p:txBody>
      </p:sp>
      <p:sp>
        <p:nvSpPr>
          <p:cNvPr id="49" name="Shape 49"/>
          <p:cNvSpPr txBox="1"/>
          <p:nvPr/>
        </p:nvSpPr>
        <p:spPr>
          <a:xfrm>
            <a:off x="6477000" y="3733800"/>
            <a:ext cx="4762500" cy="175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ko-KR" sz="15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카메라는 화면을 위에서 아래로 한 줄씩 읽는다(롤링 셔터)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ko-KR" sz="15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그래서 한 장 안에서도 윗줄과 아랫줄의 촬영 시각이 다르다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5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→ 줄마다 다른 시각을 반영해 보정해야 영상이 휘지 않는다</a:t>
            </a:r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666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04  최적화 시도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685800" y="685800"/>
            <a:ext cx="108204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30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상황에 따라 안정화 강도를 바꿔본다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10477500" y="6438900"/>
            <a:ext cx="10287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5" name="Shape 5"/>
          <p:cNvSpPr/>
          <p:nvPr/>
        </p:nvSpPr>
        <p:spPr>
          <a:xfrm>
            <a:off x="685800" y="1600200"/>
            <a:ext cx="381000" cy="381000"/>
          </a:xfrm>
          <a:prstGeom prst="ellipse">
            <a:avLst/>
          </a:prstGeom>
          <a:solidFill>
            <a:srgbClr val="12224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6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219200" y="1581150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8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자이로 특징 추출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1219200" y="1905000"/>
            <a:ext cx="38100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최근 자이로 값에서 크기, 주된 주파수, 지속 시간 같은 특징을 뽑는다</a:t>
            </a:r>
          </a:p>
        </p:txBody>
      </p:sp>
      <p:sp>
        <p:nvSpPr>
          <p:cNvPr id="8" name="Shape 8"/>
          <p:cNvSpPr/>
          <p:nvPr/>
        </p:nvSpPr>
        <p:spPr>
          <a:xfrm>
            <a:off x="685800" y="2705100"/>
            <a:ext cx="381000" cy="381000"/>
          </a:xfrm>
          <a:prstGeom prst="ellipse">
            <a:avLst/>
          </a:prstGeom>
          <a:solidFill>
            <a:srgbClr val="12224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6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219200" y="2686050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8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상황 판단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219200" y="3009900"/>
            <a:ext cx="38100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작은 분류기를 학습시켜 손떨림, 걷기, 패닝을 구분하고 정확도로 측정</a:t>
            </a:r>
          </a:p>
        </p:txBody>
      </p:sp>
      <p:sp>
        <p:nvSpPr>
          <p:cNvPr id="11" name="Shape 11"/>
          <p:cNvSpPr/>
          <p:nvPr/>
        </p:nvSpPr>
        <p:spPr>
          <a:xfrm>
            <a:off x="685800" y="3810000"/>
            <a:ext cx="381000" cy="381000"/>
          </a:xfrm>
          <a:prstGeom prst="ellipse">
            <a:avLst/>
          </a:prstGeom>
          <a:solidFill>
            <a:srgbClr val="12224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6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1219200" y="3790950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8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강도 자동 조절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1219200" y="4114800"/>
            <a:ext cx="38100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패닝이면 약하게, 떨림이면 세게 안정화</a:t>
            </a:r>
          </a:p>
        </p:txBody>
      </p:sp>
      <p:sp>
        <p:nvSpPr>
          <p:cNvPr id="14" name="Shape 14"/>
          <p:cNvSpPr/>
          <p:nvPr/>
        </p:nvSpPr>
        <p:spPr>
          <a:xfrm>
            <a:off x="5524500" y="1524000"/>
            <a:ext cx="5981700" cy="3486150"/>
          </a:xfrm>
          <a:prstGeom prst="roundRect">
            <a:avLst>
              <a:gd name="adj" fmla="val 2732"/>
            </a:avLst>
          </a:prstGeom>
          <a:solidFill>
            <a:srgbClr val="F3F6FC"/>
          </a:solidFill>
          <a:ln>
            <a:noFill/>
          </a:ln>
        </p:spPr>
      </p:sp>
      <p:sp>
        <p:nvSpPr>
          <p:cNvPr id="15" name="Shape 15"/>
          <p:cNvSpPr/>
          <p:nvPr/>
        </p:nvSpPr>
        <p:spPr>
          <a:xfrm>
            <a:off x="8085582" y="2152650"/>
            <a:ext cx="1504188" cy="2495550"/>
          </a:xfrm>
          <a:prstGeom prst="rect">
            <a:avLst/>
          </a:prstGeom>
          <a:solidFill>
            <a:srgbClr val="E2EAFB"/>
          </a:solidFill>
          <a:ln>
            <a:noFill/>
          </a:ln>
        </p:spPr>
      </p:sp>
      <p:sp>
        <p:nvSpPr>
          <p:cNvPr id="16" name="Shape 16"/>
          <p:cNvSpPr txBox="1"/>
          <p:nvPr/>
        </p:nvSpPr>
        <p:spPr>
          <a:xfrm>
            <a:off x="8085582" y="2209800"/>
            <a:ext cx="1504188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패닝 구간</a:t>
            </a:r>
          </a:p>
        </p:txBody>
      </p:sp>
      <p:sp>
        <p:nvSpPr>
          <p:cNvPr id="17" name="Freeform 17"/>
          <p:cNvSpPr/>
          <p:nvPr/>
        </p:nvSpPr>
        <p:spPr>
          <a:xfrm>
            <a:off x="5829300" y="2385593"/>
            <a:ext cx="5372100" cy="2236652"/>
          </a:xfrm>
          <a:custGeom>
            <a:avLst/>
            <a:gdLst/>
            <a:ahLst/>
            <a:cxnLst/>
            <a:rect l="0" t="0" r="r" b="b"/>
            <a:pathLst>
              <a:path w="5372100" h="2236652" fill="none">
                <a:moveTo>
                  <a:pt x="0" y="1954893"/>
                </a:moveTo>
                <a:lnTo>
                  <a:pt x="44768" y="1896321"/>
                </a:lnTo>
                <a:lnTo>
                  <a:pt x="89535" y="1870909"/>
                </a:lnTo>
                <a:lnTo>
                  <a:pt x="134303" y="1952079"/>
                </a:lnTo>
                <a:lnTo>
                  <a:pt x="179070" y="1970731"/>
                </a:lnTo>
                <a:lnTo>
                  <a:pt x="223838" y="1991671"/>
                </a:lnTo>
                <a:lnTo>
                  <a:pt x="268605" y="1994954"/>
                </a:lnTo>
                <a:lnTo>
                  <a:pt x="313372" y="1967341"/>
                </a:lnTo>
                <a:lnTo>
                  <a:pt x="358140" y="2037979"/>
                </a:lnTo>
                <a:lnTo>
                  <a:pt x="402907" y="2101937"/>
                </a:lnTo>
                <a:lnTo>
                  <a:pt x="447675" y="2208728"/>
                </a:lnTo>
                <a:lnTo>
                  <a:pt x="492443" y="2236652"/>
                </a:lnTo>
                <a:lnTo>
                  <a:pt x="537210" y="2160750"/>
                </a:lnTo>
                <a:lnTo>
                  <a:pt x="581978" y="2016335"/>
                </a:lnTo>
                <a:lnTo>
                  <a:pt x="626745" y="1930945"/>
                </a:lnTo>
                <a:lnTo>
                  <a:pt x="671512" y="1856733"/>
                </a:lnTo>
                <a:lnTo>
                  <a:pt x="716280" y="1845662"/>
                </a:lnTo>
                <a:lnTo>
                  <a:pt x="761047" y="1894305"/>
                </a:lnTo>
                <a:lnTo>
                  <a:pt x="805815" y="1985208"/>
                </a:lnTo>
                <a:lnTo>
                  <a:pt x="850582" y="2028575"/>
                </a:lnTo>
                <a:lnTo>
                  <a:pt x="895350" y="1991671"/>
                </a:lnTo>
                <a:lnTo>
                  <a:pt x="940118" y="2038104"/>
                </a:lnTo>
                <a:lnTo>
                  <a:pt x="984885" y="2018177"/>
                </a:lnTo>
                <a:lnTo>
                  <a:pt x="1029653" y="2115038"/>
                </a:lnTo>
                <a:lnTo>
                  <a:pt x="1074420" y="2190115"/>
                </a:lnTo>
                <a:lnTo>
                  <a:pt x="1119188" y="2208805"/>
                </a:lnTo>
                <a:lnTo>
                  <a:pt x="1163955" y="2136036"/>
                </a:lnTo>
                <a:lnTo>
                  <a:pt x="1208722" y="1984686"/>
                </a:lnTo>
                <a:lnTo>
                  <a:pt x="1253490" y="1896985"/>
                </a:lnTo>
                <a:lnTo>
                  <a:pt x="1298257" y="1810758"/>
                </a:lnTo>
                <a:lnTo>
                  <a:pt x="1343025" y="1831018"/>
                </a:lnTo>
                <a:lnTo>
                  <a:pt x="1387793" y="1931719"/>
                </a:lnTo>
                <a:lnTo>
                  <a:pt x="1432560" y="2013208"/>
                </a:lnTo>
                <a:lnTo>
                  <a:pt x="1477328" y="2091417"/>
                </a:lnTo>
                <a:lnTo>
                  <a:pt x="1522095" y="2093210"/>
                </a:lnTo>
                <a:lnTo>
                  <a:pt x="1566862" y="2068283"/>
                </a:lnTo>
                <a:lnTo>
                  <a:pt x="1611630" y="2046000"/>
                </a:lnTo>
                <a:lnTo>
                  <a:pt x="1656397" y="2099812"/>
                </a:lnTo>
                <a:lnTo>
                  <a:pt x="1701165" y="2153520"/>
                </a:lnTo>
                <a:lnTo>
                  <a:pt x="1745932" y="2145838"/>
                </a:lnTo>
                <a:lnTo>
                  <a:pt x="1790700" y="2091696"/>
                </a:lnTo>
                <a:lnTo>
                  <a:pt x="1835468" y="1983848"/>
                </a:lnTo>
                <a:lnTo>
                  <a:pt x="1880235" y="1839393"/>
                </a:lnTo>
                <a:lnTo>
                  <a:pt x="1925003" y="1790885"/>
                </a:lnTo>
                <a:lnTo>
                  <a:pt x="1969770" y="1852908"/>
                </a:lnTo>
                <a:lnTo>
                  <a:pt x="2014538" y="1935843"/>
                </a:lnTo>
                <a:lnTo>
                  <a:pt x="2059305" y="2047499"/>
                </a:lnTo>
                <a:lnTo>
                  <a:pt x="2104072" y="2089968"/>
                </a:lnTo>
                <a:lnTo>
                  <a:pt x="2148840" y="2099980"/>
                </a:lnTo>
                <a:lnTo>
                  <a:pt x="2193607" y="2094434"/>
                </a:lnTo>
                <a:lnTo>
                  <a:pt x="2238375" y="2035232"/>
                </a:lnTo>
                <a:lnTo>
                  <a:pt x="2283143" y="2095646"/>
                </a:lnTo>
                <a:lnTo>
                  <a:pt x="2327910" y="2093519"/>
                </a:lnTo>
                <a:lnTo>
                  <a:pt x="2372678" y="2050461"/>
                </a:lnTo>
                <a:lnTo>
                  <a:pt x="2417445" y="1992218"/>
                </a:lnTo>
                <a:lnTo>
                  <a:pt x="2462212" y="1821309"/>
                </a:lnTo>
                <a:lnTo>
                  <a:pt x="2506980" y="1687615"/>
                </a:lnTo>
                <a:lnTo>
                  <a:pt x="2551748" y="1545130"/>
                </a:lnTo>
                <a:lnTo>
                  <a:pt x="2596515" y="1515489"/>
                </a:lnTo>
                <a:lnTo>
                  <a:pt x="2641282" y="1562517"/>
                </a:lnTo>
                <a:lnTo>
                  <a:pt x="2686050" y="1582088"/>
                </a:lnTo>
                <a:lnTo>
                  <a:pt x="2730818" y="1594575"/>
                </a:lnTo>
                <a:lnTo>
                  <a:pt x="2775585" y="1477983"/>
                </a:lnTo>
                <a:lnTo>
                  <a:pt x="2820352" y="1341410"/>
                </a:lnTo>
                <a:lnTo>
                  <a:pt x="2865120" y="1201189"/>
                </a:lnTo>
                <a:lnTo>
                  <a:pt x="2909888" y="1100387"/>
                </a:lnTo>
                <a:lnTo>
                  <a:pt x="2954655" y="996286"/>
                </a:lnTo>
                <a:lnTo>
                  <a:pt x="2999423" y="896878"/>
                </a:lnTo>
                <a:lnTo>
                  <a:pt x="3044190" y="786693"/>
                </a:lnTo>
                <a:lnTo>
                  <a:pt x="3088957" y="598920"/>
                </a:lnTo>
                <a:lnTo>
                  <a:pt x="3133725" y="461015"/>
                </a:lnTo>
                <a:lnTo>
                  <a:pt x="3178493" y="313733"/>
                </a:lnTo>
                <a:lnTo>
                  <a:pt x="3223260" y="297908"/>
                </a:lnTo>
                <a:lnTo>
                  <a:pt x="3268027" y="330519"/>
                </a:lnTo>
                <a:lnTo>
                  <a:pt x="3312795" y="404483"/>
                </a:lnTo>
                <a:lnTo>
                  <a:pt x="3357562" y="450916"/>
                </a:lnTo>
                <a:lnTo>
                  <a:pt x="3402330" y="389817"/>
                </a:lnTo>
                <a:lnTo>
                  <a:pt x="3447098" y="273867"/>
                </a:lnTo>
                <a:lnTo>
                  <a:pt x="3491865" y="219614"/>
                </a:lnTo>
                <a:lnTo>
                  <a:pt x="3536632" y="152324"/>
                </a:lnTo>
                <a:lnTo>
                  <a:pt x="3581400" y="172620"/>
                </a:lnTo>
                <a:lnTo>
                  <a:pt x="3626168" y="182230"/>
                </a:lnTo>
                <a:lnTo>
                  <a:pt x="3670935" y="159081"/>
                </a:lnTo>
                <a:lnTo>
                  <a:pt x="3715702" y="54194"/>
                </a:lnTo>
                <a:lnTo>
                  <a:pt x="3760470" y="23937"/>
                </a:lnTo>
                <a:lnTo>
                  <a:pt x="3805238" y="0"/>
                </a:lnTo>
                <a:lnTo>
                  <a:pt x="3850005" y="53680"/>
                </a:lnTo>
                <a:lnTo>
                  <a:pt x="3894772" y="148559"/>
                </a:lnTo>
                <a:lnTo>
                  <a:pt x="3939540" y="317769"/>
                </a:lnTo>
                <a:lnTo>
                  <a:pt x="3984307" y="360021"/>
                </a:lnTo>
                <a:lnTo>
                  <a:pt x="4029075" y="330756"/>
                </a:lnTo>
                <a:lnTo>
                  <a:pt x="4073843" y="226202"/>
                </a:lnTo>
                <a:lnTo>
                  <a:pt x="4118610" y="138355"/>
                </a:lnTo>
                <a:lnTo>
                  <a:pt x="4163377" y="85306"/>
                </a:lnTo>
                <a:lnTo>
                  <a:pt x="4208145" y="117161"/>
                </a:lnTo>
                <a:lnTo>
                  <a:pt x="4252912" y="125900"/>
                </a:lnTo>
                <a:lnTo>
                  <a:pt x="4297680" y="124300"/>
                </a:lnTo>
                <a:lnTo>
                  <a:pt x="4342448" y="54908"/>
                </a:lnTo>
                <a:lnTo>
                  <a:pt x="4387215" y="3480"/>
                </a:lnTo>
                <a:lnTo>
                  <a:pt x="4431982" y="41761"/>
                </a:lnTo>
                <a:lnTo>
                  <a:pt x="4476750" y="102022"/>
                </a:lnTo>
                <a:lnTo>
                  <a:pt x="4521518" y="215452"/>
                </a:lnTo>
                <a:lnTo>
                  <a:pt x="4566285" y="331561"/>
                </a:lnTo>
                <a:lnTo>
                  <a:pt x="4611052" y="371140"/>
                </a:lnTo>
                <a:lnTo>
                  <a:pt x="4655820" y="329162"/>
                </a:lnTo>
                <a:lnTo>
                  <a:pt x="4700588" y="246001"/>
                </a:lnTo>
                <a:lnTo>
                  <a:pt x="4745355" y="151940"/>
                </a:lnTo>
                <a:lnTo>
                  <a:pt x="4790123" y="65763"/>
                </a:lnTo>
                <a:lnTo>
                  <a:pt x="4834890" y="66917"/>
                </a:lnTo>
                <a:lnTo>
                  <a:pt x="4879658" y="86432"/>
                </a:lnTo>
                <a:lnTo>
                  <a:pt x="4924425" y="83969"/>
                </a:lnTo>
                <a:lnTo>
                  <a:pt x="4969192" y="85448"/>
                </a:lnTo>
                <a:lnTo>
                  <a:pt x="5013960" y="66252"/>
                </a:lnTo>
                <a:lnTo>
                  <a:pt x="5058727" y="57981"/>
                </a:lnTo>
                <a:lnTo>
                  <a:pt x="5103495" y="110330"/>
                </a:lnTo>
                <a:lnTo>
                  <a:pt x="5148262" y="250335"/>
                </a:lnTo>
                <a:lnTo>
                  <a:pt x="5193030" y="305059"/>
                </a:lnTo>
                <a:lnTo>
                  <a:pt x="5237798" y="353869"/>
                </a:lnTo>
                <a:lnTo>
                  <a:pt x="5282565" y="300762"/>
                </a:lnTo>
                <a:lnTo>
                  <a:pt x="5327333" y="190877"/>
                </a:lnTo>
                <a:lnTo>
                  <a:pt x="5372100" y="93601"/>
                </a:lnTo>
              </a:path>
            </a:pathLst>
          </a:custGeom>
          <a:noFill/>
          <a:ln w="20320" cap="rnd">
            <a:solidFill>
              <a:srgbClr val="AEB7CC"/>
            </a:solidFill>
            <a:round/>
          </a:ln>
        </p:spPr>
      </p:sp>
      <p:sp>
        <p:nvSpPr>
          <p:cNvPr id="18" name="Freeform 18"/>
          <p:cNvSpPr/>
          <p:nvPr/>
        </p:nvSpPr>
        <p:spPr>
          <a:xfrm>
            <a:off x="5829300" y="2525328"/>
            <a:ext cx="5372100" cy="1913589"/>
          </a:xfrm>
          <a:custGeom>
            <a:avLst/>
            <a:gdLst/>
            <a:ahLst/>
            <a:cxnLst/>
            <a:rect l="0" t="0" r="r" b="b"/>
            <a:pathLst>
              <a:path w="5372100" h="1913589" fill="none">
                <a:moveTo>
                  <a:pt x="0" y="1815159"/>
                </a:moveTo>
                <a:lnTo>
                  <a:pt x="44768" y="1809302"/>
                </a:lnTo>
                <a:lnTo>
                  <a:pt x="89535" y="1801489"/>
                </a:lnTo>
                <a:lnTo>
                  <a:pt x="134303" y="1802575"/>
                </a:lnTo>
                <a:lnTo>
                  <a:pt x="179070" y="1805417"/>
                </a:lnTo>
                <a:lnTo>
                  <a:pt x="223838" y="1810069"/>
                </a:lnTo>
                <a:lnTo>
                  <a:pt x="268605" y="1814584"/>
                </a:lnTo>
                <a:lnTo>
                  <a:pt x="313372" y="1815886"/>
                </a:lnTo>
                <a:lnTo>
                  <a:pt x="358140" y="1824122"/>
                </a:lnTo>
                <a:lnTo>
                  <a:pt x="402907" y="1837930"/>
                </a:lnTo>
                <a:lnTo>
                  <a:pt x="447675" y="1861037"/>
                </a:lnTo>
                <a:lnTo>
                  <a:pt x="492443" y="1884625"/>
                </a:lnTo>
                <a:lnTo>
                  <a:pt x="537210" y="1898264"/>
                </a:lnTo>
                <a:lnTo>
                  <a:pt x="581978" y="1896098"/>
                </a:lnTo>
                <a:lnTo>
                  <a:pt x="626745" y="1885609"/>
                </a:lnTo>
                <a:lnTo>
                  <a:pt x="671512" y="1868748"/>
                </a:lnTo>
                <a:lnTo>
                  <a:pt x="716280" y="1852466"/>
                </a:lnTo>
                <a:lnTo>
                  <a:pt x="761047" y="1842676"/>
                </a:lnTo>
                <a:lnTo>
                  <a:pt x="805815" y="1842956"/>
                </a:lnTo>
                <a:lnTo>
                  <a:pt x="850582" y="1847545"/>
                </a:lnTo>
                <a:lnTo>
                  <a:pt x="895350" y="1847984"/>
                </a:lnTo>
                <a:lnTo>
                  <a:pt x="940118" y="1853022"/>
                </a:lnTo>
                <a:lnTo>
                  <a:pt x="984885" y="1855564"/>
                </a:lnTo>
                <a:lnTo>
                  <a:pt x="1029653" y="1867538"/>
                </a:lnTo>
                <a:lnTo>
                  <a:pt x="1074420" y="1885823"/>
                </a:lnTo>
                <a:lnTo>
                  <a:pt x="1119188" y="1904147"/>
                </a:lnTo>
                <a:lnTo>
                  <a:pt x="1163955" y="1913363"/>
                </a:lnTo>
                <a:lnTo>
                  <a:pt x="1208722" y="1906522"/>
                </a:lnTo>
                <a:lnTo>
                  <a:pt x="1253490" y="1891595"/>
                </a:lnTo>
                <a:lnTo>
                  <a:pt x="1298257" y="1869538"/>
                </a:lnTo>
                <a:lnTo>
                  <a:pt x="1343025" y="1851712"/>
                </a:lnTo>
                <a:lnTo>
                  <a:pt x="1387793" y="1845739"/>
                </a:lnTo>
                <a:lnTo>
                  <a:pt x="1432560" y="1848513"/>
                </a:lnTo>
                <a:lnTo>
                  <a:pt x="1477328" y="1858830"/>
                </a:lnTo>
                <a:lnTo>
                  <a:pt x="1522095" y="1868294"/>
                </a:lnTo>
                <a:lnTo>
                  <a:pt x="1566862" y="1874320"/>
                </a:lnTo>
                <a:lnTo>
                  <a:pt x="1611630" y="1877514"/>
                </a:lnTo>
                <a:lnTo>
                  <a:pt x="1656397" y="1885771"/>
                </a:lnTo>
                <a:lnTo>
                  <a:pt x="1701165" y="1898572"/>
                </a:lnTo>
                <a:lnTo>
                  <a:pt x="1745932" y="1909325"/>
                </a:lnTo>
                <a:lnTo>
                  <a:pt x="1790700" y="1913589"/>
                </a:lnTo>
                <a:lnTo>
                  <a:pt x="1835468" y="1906641"/>
                </a:lnTo>
                <a:lnTo>
                  <a:pt x="1880235" y="1885943"/>
                </a:lnTo>
                <a:lnTo>
                  <a:pt x="1925003" y="1862464"/>
                </a:lnTo>
                <a:lnTo>
                  <a:pt x="1969770" y="1847535"/>
                </a:lnTo>
                <a:lnTo>
                  <a:pt x="2014538" y="1842392"/>
                </a:lnTo>
                <a:lnTo>
                  <a:pt x="2059305" y="1848930"/>
                </a:lnTo>
                <a:lnTo>
                  <a:pt x="2104072" y="1859060"/>
                </a:lnTo>
                <a:lnTo>
                  <a:pt x="2148840" y="1869179"/>
                </a:lnTo>
                <a:lnTo>
                  <a:pt x="2193607" y="1877731"/>
                </a:lnTo>
                <a:lnTo>
                  <a:pt x="2238375" y="1879508"/>
                </a:lnTo>
                <a:lnTo>
                  <a:pt x="2283143" y="1887148"/>
                </a:lnTo>
                <a:lnTo>
                  <a:pt x="2327910" y="1893812"/>
                </a:lnTo>
                <a:lnTo>
                  <a:pt x="2372678" y="1895503"/>
                </a:lnTo>
                <a:lnTo>
                  <a:pt x="2417445" y="1891201"/>
                </a:lnTo>
                <a:lnTo>
                  <a:pt x="2462212" y="1870239"/>
                </a:lnTo>
                <a:lnTo>
                  <a:pt x="2506980" y="1838003"/>
                </a:lnTo>
                <a:lnTo>
                  <a:pt x="2551748" y="1794742"/>
                </a:lnTo>
                <a:lnTo>
                  <a:pt x="2596515" y="1752843"/>
                </a:lnTo>
                <a:lnTo>
                  <a:pt x="2641282" y="1719837"/>
                </a:lnTo>
                <a:lnTo>
                  <a:pt x="2686050" y="1692089"/>
                </a:lnTo>
                <a:lnTo>
                  <a:pt x="2730818" y="1668364"/>
                </a:lnTo>
                <a:lnTo>
                  <a:pt x="2775585" y="1635353"/>
                </a:lnTo>
                <a:lnTo>
                  <a:pt x="2820352" y="1591985"/>
                </a:lnTo>
                <a:lnTo>
                  <a:pt x="2865120" y="1538932"/>
                </a:lnTo>
                <a:lnTo>
                  <a:pt x="2909888" y="1481104"/>
                </a:lnTo>
                <a:lnTo>
                  <a:pt x="2954655" y="1418649"/>
                </a:lnTo>
                <a:lnTo>
                  <a:pt x="2999423" y="1352498"/>
                </a:lnTo>
                <a:lnTo>
                  <a:pt x="3044190" y="1281944"/>
                </a:lnTo>
                <a:lnTo>
                  <a:pt x="3088957" y="1199668"/>
                </a:lnTo>
                <a:lnTo>
                  <a:pt x="3133725" y="1111830"/>
                </a:lnTo>
                <a:lnTo>
                  <a:pt x="3178493" y="1018047"/>
                </a:lnTo>
                <a:lnTo>
                  <a:pt x="3223260" y="932059"/>
                </a:lnTo>
                <a:lnTo>
                  <a:pt x="3268027" y="857932"/>
                </a:lnTo>
                <a:lnTo>
                  <a:pt x="3312795" y="798613"/>
                </a:lnTo>
                <a:lnTo>
                  <a:pt x="3357562" y="749870"/>
                </a:lnTo>
                <a:lnTo>
                  <a:pt x="3402330" y="699892"/>
                </a:lnTo>
                <a:lnTo>
                  <a:pt x="3447098" y="643316"/>
                </a:lnTo>
                <a:lnTo>
                  <a:pt x="3491865" y="586972"/>
                </a:lnTo>
                <a:lnTo>
                  <a:pt x="3536632" y="529534"/>
                </a:lnTo>
                <a:lnTo>
                  <a:pt x="3581400" y="479869"/>
                </a:lnTo>
                <a:lnTo>
                  <a:pt x="3626168" y="436132"/>
                </a:lnTo>
                <a:lnTo>
                  <a:pt x="3670935" y="394453"/>
                </a:lnTo>
                <a:lnTo>
                  <a:pt x="3715702" y="346454"/>
                </a:lnTo>
                <a:lnTo>
                  <a:pt x="3760470" y="300229"/>
                </a:lnTo>
                <a:lnTo>
                  <a:pt x="3805238" y="256232"/>
                </a:lnTo>
                <a:lnTo>
                  <a:pt x="3850005" y="222004"/>
                </a:lnTo>
                <a:lnTo>
                  <a:pt x="3894772" y="200686"/>
                </a:lnTo>
                <a:lnTo>
                  <a:pt x="3939540" y="198421"/>
                </a:lnTo>
                <a:lnTo>
                  <a:pt x="3984307" y="200607"/>
                </a:lnTo>
                <a:lnTo>
                  <a:pt x="4029075" y="199649"/>
                </a:lnTo>
                <a:lnTo>
                  <a:pt x="4073843" y="188331"/>
                </a:lnTo>
                <a:lnTo>
                  <a:pt x="4118610" y="169360"/>
                </a:lnTo>
                <a:lnTo>
                  <a:pt x="4163377" y="146981"/>
                </a:lnTo>
                <a:lnTo>
                  <a:pt x="4208145" y="130025"/>
                </a:lnTo>
                <a:lnTo>
                  <a:pt x="4252912" y="115640"/>
                </a:lnTo>
                <a:lnTo>
                  <a:pt x="4297680" y="102532"/>
                </a:lnTo>
                <a:lnTo>
                  <a:pt x="4342448" y="83796"/>
                </a:lnTo>
                <a:lnTo>
                  <a:pt x="4387215" y="61791"/>
                </a:lnTo>
                <a:lnTo>
                  <a:pt x="4431982" y="45815"/>
                </a:lnTo>
                <a:lnTo>
                  <a:pt x="4476750" y="37462"/>
                </a:lnTo>
                <a:lnTo>
                  <a:pt x="4521518" y="41288"/>
                </a:lnTo>
                <a:lnTo>
                  <a:pt x="4566285" y="56342"/>
                </a:lnTo>
                <a:lnTo>
                  <a:pt x="4611052" y="73848"/>
                </a:lnTo>
                <a:lnTo>
                  <a:pt x="4655820" y="85406"/>
                </a:lnTo>
                <a:lnTo>
                  <a:pt x="4700588" y="87492"/>
                </a:lnTo>
                <a:lnTo>
                  <a:pt x="4745355" y="79963"/>
                </a:lnTo>
                <a:lnTo>
                  <a:pt x="4790123" y="64570"/>
                </a:lnTo>
                <a:lnTo>
                  <a:pt x="4834890" y="50831"/>
                </a:lnTo>
                <a:lnTo>
                  <a:pt x="4879658" y="40418"/>
                </a:lnTo>
                <a:lnTo>
                  <a:pt x="4924425" y="30800"/>
                </a:lnTo>
                <a:lnTo>
                  <a:pt x="4969192" y="22291"/>
                </a:lnTo>
                <a:lnTo>
                  <a:pt x="5013960" y="12714"/>
                </a:lnTo>
                <a:lnTo>
                  <a:pt x="5058727" y="3267"/>
                </a:lnTo>
                <a:lnTo>
                  <a:pt x="5103495" y="0"/>
                </a:lnTo>
                <a:lnTo>
                  <a:pt x="5148262" y="11060"/>
                </a:lnTo>
                <a:lnTo>
                  <a:pt x="5193030" y="26487"/>
                </a:lnTo>
                <a:lnTo>
                  <a:pt x="5237798" y="45251"/>
                </a:lnTo>
                <a:lnTo>
                  <a:pt x="5282565" y="56829"/>
                </a:lnTo>
                <a:lnTo>
                  <a:pt x="5327333" y="56260"/>
                </a:lnTo>
                <a:lnTo>
                  <a:pt x="5372100" y="46021"/>
                </a:lnTo>
              </a:path>
            </a:pathLst>
          </a:custGeom>
          <a:noFill/>
          <a:ln w="38100" cap="rnd">
            <a:solidFill>
              <a:srgbClr val="12224A"/>
            </a:solidFill>
            <a:round/>
          </a:ln>
        </p:spPr>
      </p:sp>
      <p:sp>
        <p:nvSpPr>
          <p:cNvPr id="19" name="Freeform 19"/>
          <p:cNvSpPr/>
          <p:nvPr/>
        </p:nvSpPr>
        <p:spPr>
          <a:xfrm>
            <a:off x="5829300" y="2432222"/>
            <a:ext cx="5372100" cy="2036665"/>
          </a:xfrm>
          <a:custGeom>
            <a:avLst/>
            <a:gdLst/>
            <a:ahLst/>
            <a:cxnLst/>
            <a:rect l="0" t="0" r="r" b="b"/>
            <a:pathLst>
              <a:path w="5372100" h="2036665" fill="none">
                <a:moveTo>
                  <a:pt x="0" y="1908264"/>
                </a:moveTo>
                <a:lnTo>
                  <a:pt x="44768" y="1902407"/>
                </a:lnTo>
                <a:lnTo>
                  <a:pt x="89535" y="1894594"/>
                </a:lnTo>
                <a:lnTo>
                  <a:pt x="134303" y="1895680"/>
                </a:lnTo>
                <a:lnTo>
                  <a:pt x="179070" y="1898522"/>
                </a:lnTo>
                <a:lnTo>
                  <a:pt x="223838" y="1903174"/>
                </a:lnTo>
                <a:lnTo>
                  <a:pt x="268605" y="1907689"/>
                </a:lnTo>
                <a:lnTo>
                  <a:pt x="313372" y="1908991"/>
                </a:lnTo>
                <a:lnTo>
                  <a:pt x="358140" y="1917227"/>
                </a:lnTo>
                <a:lnTo>
                  <a:pt x="402907" y="1931035"/>
                </a:lnTo>
                <a:lnTo>
                  <a:pt x="447675" y="1954142"/>
                </a:lnTo>
                <a:lnTo>
                  <a:pt x="492443" y="1977730"/>
                </a:lnTo>
                <a:lnTo>
                  <a:pt x="537210" y="1991369"/>
                </a:lnTo>
                <a:lnTo>
                  <a:pt x="581978" y="1989203"/>
                </a:lnTo>
                <a:lnTo>
                  <a:pt x="626745" y="1978714"/>
                </a:lnTo>
                <a:lnTo>
                  <a:pt x="671512" y="1961853"/>
                </a:lnTo>
                <a:lnTo>
                  <a:pt x="716280" y="1945571"/>
                </a:lnTo>
                <a:lnTo>
                  <a:pt x="761047" y="1935781"/>
                </a:lnTo>
                <a:lnTo>
                  <a:pt x="805815" y="1936061"/>
                </a:lnTo>
                <a:lnTo>
                  <a:pt x="850582" y="1940650"/>
                </a:lnTo>
                <a:lnTo>
                  <a:pt x="895350" y="1941089"/>
                </a:lnTo>
                <a:lnTo>
                  <a:pt x="940118" y="1946128"/>
                </a:lnTo>
                <a:lnTo>
                  <a:pt x="984885" y="1948670"/>
                </a:lnTo>
                <a:lnTo>
                  <a:pt x="1029653" y="1960644"/>
                </a:lnTo>
                <a:lnTo>
                  <a:pt x="1074420" y="1978928"/>
                </a:lnTo>
                <a:lnTo>
                  <a:pt x="1119188" y="1997253"/>
                </a:lnTo>
                <a:lnTo>
                  <a:pt x="1163955" y="2006468"/>
                </a:lnTo>
                <a:lnTo>
                  <a:pt x="1208722" y="1999627"/>
                </a:lnTo>
                <a:lnTo>
                  <a:pt x="1253490" y="1984700"/>
                </a:lnTo>
                <a:lnTo>
                  <a:pt x="1298257" y="1962643"/>
                </a:lnTo>
                <a:lnTo>
                  <a:pt x="1343025" y="1944817"/>
                </a:lnTo>
                <a:lnTo>
                  <a:pt x="1387793" y="1938845"/>
                </a:lnTo>
                <a:lnTo>
                  <a:pt x="1432560" y="1941618"/>
                </a:lnTo>
                <a:lnTo>
                  <a:pt x="1477328" y="1951935"/>
                </a:lnTo>
                <a:lnTo>
                  <a:pt x="1522095" y="1961400"/>
                </a:lnTo>
                <a:lnTo>
                  <a:pt x="1566862" y="1967425"/>
                </a:lnTo>
                <a:lnTo>
                  <a:pt x="1611630" y="1970620"/>
                </a:lnTo>
                <a:lnTo>
                  <a:pt x="1656397" y="1978876"/>
                </a:lnTo>
                <a:lnTo>
                  <a:pt x="1701165" y="1991677"/>
                </a:lnTo>
                <a:lnTo>
                  <a:pt x="1745932" y="2002430"/>
                </a:lnTo>
                <a:lnTo>
                  <a:pt x="1790700" y="2006694"/>
                </a:lnTo>
                <a:lnTo>
                  <a:pt x="1835468" y="1999747"/>
                </a:lnTo>
                <a:lnTo>
                  <a:pt x="1880235" y="1979048"/>
                </a:lnTo>
                <a:lnTo>
                  <a:pt x="1925003" y="1955569"/>
                </a:lnTo>
                <a:lnTo>
                  <a:pt x="1969770" y="1940640"/>
                </a:lnTo>
                <a:lnTo>
                  <a:pt x="2014538" y="1935497"/>
                </a:lnTo>
                <a:lnTo>
                  <a:pt x="2059305" y="1942035"/>
                </a:lnTo>
                <a:lnTo>
                  <a:pt x="2104072" y="1952165"/>
                </a:lnTo>
                <a:lnTo>
                  <a:pt x="2148840" y="1962284"/>
                </a:lnTo>
                <a:lnTo>
                  <a:pt x="2193607" y="1970836"/>
                </a:lnTo>
                <a:lnTo>
                  <a:pt x="2238375" y="1972613"/>
                </a:lnTo>
                <a:lnTo>
                  <a:pt x="2283143" y="2019983"/>
                </a:lnTo>
                <a:lnTo>
                  <a:pt x="2327910" y="2036665"/>
                </a:lnTo>
                <a:lnTo>
                  <a:pt x="2372678" y="2016309"/>
                </a:lnTo>
                <a:lnTo>
                  <a:pt x="2417445" y="1972462"/>
                </a:lnTo>
                <a:lnTo>
                  <a:pt x="2462212" y="1849837"/>
                </a:lnTo>
                <a:lnTo>
                  <a:pt x="2506980" y="1720349"/>
                </a:lnTo>
                <a:lnTo>
                  <a:pt x="2551748" y="1582803"/>
                </a:lnTo>
                <a:lnTo>
                  <a:pt x="2596515" y="1512158"/>
                </a:lnTo>
                <a:lnTo>
                  <a:pt x="2641282" y="1514471"/>
                </a:lnTo>
                <a:lnTo>
                  <a:pt x="2686050" y="1527483"/>
                </a:lnTo>
                <a:lnTo>
                  <a:pt x="2730818" y="1540170"/>
                </a:lnTo>
                <a:lnTo>
                  <a:pt x="2775585" y="1472704"/>
                </a:lnTo>
                <a:lnTo>
                  <a:pt x="2820352" y="1362392"/>
                </a:lnTo>
                <a:lnTo>
                  <a:pt x="2865120" y="1233536"/>
                </a:lnTo>
                <a:lnTo>
                  <a:pt x="2909888" y="1122073"/>
                </a:lnTo>
                <a:lnTo>
                  <a:pt x="2954655" y="1015175"/>
                </a:lnTo>
                <a:lnTo>
                  <a:pt x="2999423" y="912921"/>
                </a:lnTo>
                <a:lnTo>
                  <a:pt x="3044190" y="805749"/>
                </a:lnTo>
                <a:lnTo>
                  <a:pt x="3088957" y="648605"/>
                </a:lnTo>
                <a:lnTo>
                  <a:pt x="3133725" y="503389"/>
                </a:lnTo>
                <a:lnTo>
                  <a:pt x="3178493" y="356892"/>
                </a:lnTo>
                <a:lnTo>
                  <a:pt x="3223260" y="291412"/>
                </a:lnTo>
                <a:lnTo>
                  <a:pt x="3268027" y="286748"/>
                </a:lnTo>
                <a:lnTo>
                  <a:pt x="3312795" y="330834"/>
                </a:lnTo>
                <a:lnTo>
                  <a:pt x="3357562" y="376375"/>
                </a:lnTo>
                <a:lnTo>
                  <a:pt x="3402330" y="355799"/>
                </a:lnTo>
                <a:lnTo>
                  <a:pt x="3447098" y="276091"/>
                </a:lnTo>
                <a:lnTo>
                  <a:pt x="3491865" y="212165"/>
                </a:lnTo>
                <a:lnTo>
                  <a:pt x="3536632" y="146154"/>
                </a:lnTo>
                <a:lnTo>
                  <a:pt x="3581400" y="133653"/>
                </a:lnTo>
                <a:lnTo>
                  <a:pt x="3626168" y="134860"/>
                </a:lnTo>
                <a:lnTo>
                  <a:pt x="3670935" y="120967"/>
                </a:lnTo>
                <a:lnTo>
                  <a:pt x="3715702" y="50658"/>
                </a:lnTo>
                <a:lnTo>
                  <a:pt x="3760470" y="5181"/>
                </a:lnTo>
                <a:lnTo>
                  <a:pt x="3805238" y="0"/>
                </a:lnTo>
                <a:lnTo>
                  <a:pt x="3850005" y="705"/>
                </a:lnTo>
                <a:lnTo>
                  <a:pt x="3894772" y="10828"/>
                </a:lnTo>
                <a:lnTo>
                  <a:pt x="3939540" y="36859"/>
                </a:lnTo>
                <a:lnTo>
                  <a:pt x="3984307" y="64512"/>
                </a:lnTo>
                <a:lnTo>
                  <a:pt x="4029075" y="86474"/>
                </a:lnTo>
                <a:lnTo>
                  <a:pt x="4073843" y="95783"/>
                </a:lnTo>
                <a:lnTo>
                  <a:pt x="4118610" y="95378"/>
                </a:lnTo>
                <a:lnTo>
                  <a:pt x="4163377" y="89708"/>
                </a:lnTo>
                <a:lnTo>
                  <a:pt x="4208145" y="87790"/>
                </a:lnTo>
                <a:lnTo>
                  <a:pt x="4252912" y="86938"/>
                </a:lnTo>
                <a:lnTo>
                  <a:pt x="4297680" y="86011"/>
                </a:lnTo>
                <a:lnTo>
                  <a:pt x="4342448" y="78238"/>
                </a:lnTo>
                <a:lnTo>
                  <a:pt x="4387215" y="66099"/>
                </a:lnTo>
                <a:lnTo>
                  <a:pt x="4431982" y="59003"/>
                </a:lnTo>
                <a:lnTo>
                  <a:pt x="4476750" y="58642"/>
                </a:lnTo>
                <a:lnTo>
                  <a:pt x="4521518" y="69660"/>
                </a:lnTo>
                <a:lnTo>
                  <a:pt x="4566285" y="91187"/>
                </a:lnTo>
                <a:lnTo>
                  <a:pt x="4611052" y="114519"/>
                </a:lnTo>
                <a:lnTo>
                  <a:pt x="4655820" y="131321"/>
                </a:lnTo>
                <a:lnTo>
                  <a:pt x="4700588" y="138126"/>
                </a:lnTo>
                <a:lnTo>
                  <a:pt x="4745355" y="134844"/>
                </a:lnTo>
                <a:lnTo>
                  <a:pt x="4790123" y="123273"/>
                </a:lnTo>
                <a:lnTo>
                  <a:pt x="4834890" y="112975"/>
                </a:lnTo>
                <a:lnTo>
                  <a:pt x="4879658" y="105658"/>
                </a:lnTo>
                <a:lnTo>
                  <a:pt x="4924425" y="98826"/>
                </a:lnTo>
                <a:lnTo>
                  <a:pt x="4969192" y="92825"/>
                </a:lnTo>
                <a:lnTo>
                  <a:pt x="5013960" y="85505"/>
                </a:lnTo>
                <a:lnTo>
                  <a:pt x="5058727" y="78090"/>
                </a:lnTo>
                <a:lnTo>
                  <a:pt x="5103495" y="76651"/>
                </a:lnTo>
                <a:lnTo>
                  <a:pt x="5148262" y="89356"/>
                </a:lnTo>
                <a:lnTo>
                  <a:pt x="5193030" y="106264"/>
                </a:lnTo>
                <a:lnTo>
                  <a:pt x="5237798" y="126361"/>
                </a:lnTo>
                <a:lnTo>
                  <a:pt x="5282565" y="139138"/>
                </a:lnTo>
                <a:lnTo>
                  <a:pt x="5327333" y="139649"/>
                </a:lnTo>
                <a:lnTo>
                  <a:pt x="5372100" y="130382"/>
                </a:lnTo>
              </a:path>
            </a:pathLst>
          </a:custGeom>
          <a:noFill/>
          <a:ln w="38100" cap="rnd">
            <a:solidFill>
              <a:srgbClr val="E39B2D"/>
            </a:solidFill>
            <a:round/>
          </a:ln>
        </p:spPr>
      </p:sp>
      <p:cxnSp>
        <p:nvCxnSpPr>
          <p:cNvPr id="20" name="Line 20"/>
          <p:cNvCxnSpPr/>
          <p:nvPr/>
        </p:nvCxnSpPr>
        <p:spPr>
          <a:xfrm>
            <a:off x="5829300" y="1676400"/>
            <a:ext cx="266700" cy="0"/>
          </a:xfrm>
          <a:prstGeom prst="line">
            <a:avLst/>
          </a:prstGeom>
          <a:ln w="25400">
            <a:solidFill>
              <a:srgbClr val="AEB7CC"/>
            </a:solidFill>
          </a:ln>
        </p:spPr>
      </p:cxnSp>
      <p:sp>
        <p:nvSpPr>
          <p:cNvPr id="21" name="Shape 21"/>
          <p:cNvSpPr txBox="1"/>
          <p:nvPr/>
        </p:nvSpPr>
        <p:spPr>
          <a:xfrm>
            <a:off x="6153150" y="1581150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원래 경로</a:t>
            </a:r>
          </a:p>
        </p:txBody>
      </p:sp>
      <p:cxnSp>
        <p:nvCxnSpPr>
          <p:cNvPr id="22" name="Line 22"/>
          <p:cNvCxnSpPr/>
          <p:nvPr/>
        </p:nvCxnSpPr>
        <p:spPr>
          <a:xfrm>
            <a:off x="7067550" y="1676400"/>
            <a:ext cx="266700" cy="0"/>
          </a:xfrm>
          <a:prstGeom prst="line">
            <a:avLst/>
          </a:prstGeom>
          <a:ln w="38100">
            <a:solidFill>
              <a:srgbClr val="12224A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7391400" y="1581150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고정 강도(강하게)</a:t>
            </a:r>
          </a:p>
        </p:txBody>
      </p:sp>
      <p:cxnSp>
        <p:nvCxnSpPr>
          <p:cNvPr id="24" name="Line 24"/>
          <p:cNvCxnSpPr/>
          <p:nvPr/>
        </p:nvCxnSpPr>
        <p:spPr>
          <a:xfrm>
            <a:off x="8782050" y="1676400"/>
            <a:ext cx="266700" cy="0"/>
          </a:xfrm>
          <a:prstGeom prst="line">
            <a:avLst/>
          </a:prstGeom>
          <a:ln w="38100">
            <a:solidFill>
              <a:srgbClr val="E39B2D"/>
            </a:solidFill>
          </a:ln>
        </p:spPr>
      </p:cxnSp>
      <p:sp>
        <p:nvSpPr>
          <p:cNvPr id="25" name="Shape 25"/>
          <p:cNvSpPr txBox="1"/>
          <p:nvPr/>
        </p:nvSpPr>
        <p:spPr>
          <a:xfrm>
            <a:off x="9105900" y="1581150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적응형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10096500" y="4724400"/>
            <a:ext cx="1333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개념도(예시)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685800" y="5219700"/>
            <a:ext cx="108204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lv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ko-KR" sz="1500" b="1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자이로 신호로 상황을 구분하는 작은 분류기를 학습시켜, 손떨림과 걷기는 강하게 잡고 패닝은 화면이 빨리 따라오게 약하게 잡도록 최대한 다듬어 본다</a:t>
            </a:r>
            <a:endParaRPr lang="ko-KR" sz="1500" b="1">
              <a:solidFill>
                <a:srgbClr val="12224a"/>
              </a:solidFill>
              <a:latin typeface="맑은 고딕"/>
              <a:ea typeface="맑은 고딕"/>
              <a:cs typeface="맑은 고딕"/>
            </a:endParaRPr>
          </a:p>
          <a:p>
            <a: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sz="140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갤럭시 기본 안정화를 비교 기준으로 삼아, 고정 강도보다 얼마나 나아지는지와 갤럭시와 어디서 차이 나는지를 수치로 확인한다</a:t>
            </a:r>
            <a:endParaRPr lang="ko-KR" sz="1400">
              <a:solidFill>
                <a:srgbClr val="1b244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>
            <a:off x="685800" y="457200"/>
            <a:ext cx="666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05  시스템 구조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685800" y="685800"/>
            <a:ext cx="108204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30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이렇게 동작한다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10477500" y="6438900"/>
            <a:ext cx="10287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5" name="Shape 5"/>
          <p:cNvSpPr/>
          <p:nvPr/>
        </p:nvSpPr>
        <p:spPr>
          <a:xfrm>
            <a:off x="685800" y="1676400"/>
            <a:ext cx="1600200" cy="2209800"/>
          </a:xfrm>
          <a:prstGeom prst="roundRect">
            <a:avLst>
              <a:gd name="adj" fmla="val 5952"/>
            </a:avLst>
          </a:prstGeom>
          <a:solidFill>
            <a:srgbClr val="F3F6FC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838200" y="1847850"/>
            <a:ext cx="285750" cy="285750"/>
          </a:xfrm>
          <a:prstGeom prst="ellipse">
            <a:avLst/>
          </a:prstGeom>
          <a:solidFill>
            <a:srgbClr val="12224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38200" y="2247900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6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촬영·기록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38200" y="2609850"/>
            <a:ext cx="1333500" cy="1181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Camera2로 영상, SensorManager로 자이로를 동시에 기록</a:t>
            </a:r>
          </a:p>
        </p:txBody>
      </p:sp>
      <p:cxnSp>
        <p:nvCxnSpPr>
          <p:cNvPr id="9" name="Line 9"/>
          <p:cNvCxnSpPr/>
          <p:nvPr/>
        </p:nvCxnSpPr>
        <p:spPr>
          <a:xfrm>
            <a:off x="2324100" y="2781300"/>
            <a:ext cx="167640" cy="0"/>
          </a:xfrm>
          <a:prstGeom prst="line">
            <a:avLst/>
          </a:prstGeom>
          <a:ln w="22860">
            <a:solidFill>
              <a:srgbClr val="3B6FE0"/>
            </a:solidFill>
            <a:tailEnd type="triangle" w="med" len="med"/>
          </a:ln>
        </p:spPr>
      </p:cxnSp>
      <p:sp>
        <p:nvSpPr>
          <p:cNvPr id="10" name="Shape 10"/>
          <p:cNvSpPr/>
          <p:nvPr/>
        </p:nvSpPr>
        <p:spPr>
          <a:xfrm>
            <a:off x="2529840" y="1676400"/>
            <a:ext cx="1600200" cy="2209800"/>
          </a:xfrm>
          <a:prstGeom prst="roundRect">
            <a:avLst>
              <a:gd name="adj" fmla="val 5952"/>
            </a:avLst>
          </a:prstGeom>
          <a:solidFill>
            <a:srgbClr val="F3F6FC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2682240" y="1847850"/>
            <a:ext cx="285750" cy="285750"/>
          </a:xfrm>
          <a:prstGeom prst="ellipse">
            <a:avLst/>
          </a:prstGeom>
          <a:solidFill>
            <a:srgbClr val="12224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2682240" y="2247900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6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회전 계산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2682240" y="2609850"/>
            <a:ext cx="1333500" cy="1181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자이로 값을 쌓아 프레임마다 카메라가 돌아간 각도를 계산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4168140" y="2781300"/>
            <a:ext cx="167640" cy="0"/>
          </a:xfrm>
          <a:prstGeom prst="line">
            <a:avLst/>
          </a:prstGeom>
          <a:ln w="22860">
            <a:solidFill>
              <a:srgbClr val="3B6FE0"/>
            </a:solidFill>
            <a:tailEnd type="triangle" w="med" len="med"/>
          </a:ln>
        </p:spPr>
      </p:cxnSp>
      <p:sp>
        <p:nvSpPr>
          <p:cNvPr id="15" name="Shape 15"/>
          <p:cNvSpPr/>
          <p:nvPr/>
        </p:nvSpPr>
        <p:spPr>
          <a:xfrm>
            <a:off x="4373880" y="1676400"/>
            <a:ext cx="1600200" cy="2209800"/>
          </a:xfrm>
          <a:prstGeom prst="roundRect">
            <a:avLst>
              <a:gd name="adj" fmla="val 5952"/>
            </a:avLst>
          </a:prstGeom>
          <a:solidFill>
            <a:srgbClr val="F3F6FC"/>
          </a:solidFill>
          <a:ln>
            <a:noFill/>
          </a:ln>
        </p:spPr>
      </p:sp>
      <p:sp>
        <p:nvSpPr>
          <p:cNvPr id="16" name="Shape 16"/>
          <p:cNvSpPr/>
          <p:nvPr/>
        </p:nvSpPr>
        <p:spPr>
          <a:xfrm>
            <a:off x="4526280" y="1847850"/>
            <a:ext cx="285750" cy="285750"/>
          </a:xfrm>
          <a:prstGeom prst="ellipse">
            <a:avLst/>
          </a:prstGeom>
          <a:solidFill>
            <a:srgbClr val="12224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4526280" y="2247900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6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시간 맞추기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4526280" y="2609850"/>
            <a:ext cx="1333500" cy="1181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카메라와 자이로의 시간 어긋남을 찾아 보정</a:t>
            </a:r>
          </a:p>
        </p:txBody>
      </p:sp>
      <p:cxnSp>
        <p:nvCxnSpPr>
          <p:cNvPr id="19" name="Line 19"/>
          <p:cNvCxnSpPr/>
          <p:nvPr/>
        </p:nvCxnSpPr>
        <p:spPr>
          <a:xfrm>
            <a:off x="6012180" y="2781300"/>
            <a:ext cx="167640" cy="0"/>
          </a:xfrm>
          <a:prstGeom prst="line">
            <a:avLst/>
          </a:prstGeom>
          <a:ln w="22860">
            <a:solidFill>
              <a:srgbClr val="3B6FE0"/>
            </a:solidFill>
            <a:tailEnd type="triangle" w="med" len="med"/>
          </a:ln>
        </p:spPr>
      </p:cxnSp>
      <p:sp>
        <p:nvSpPr>
          <p:cNvPr id="20" name="Shape 20"/>
          <p:cNvSpPr/>
          <p:nvPr/>
        </p:nvSpPr>
        <p:spPr>
          <a:xfrm>
            <a:off x="6217920" y="1676400"/>
            <a:ext cx="1600200" cy="2209800"/>
          </a:xfrm>
          <a:prstGeom prst="roundRect">
            <a:avLst>
              <a:gd name="adj" fmla="val 5952"/>
            </a:avLst>
          </a:prstGeom>
          <a:solidFill>
            <a:srgbClr val="DCE7FB"/>
          </a:solidFill>
          <a:ln w="19050">
            <a:solidFill>
              <a:srgbClr val="3B6FE0"/>
            </a:solidFill>
          </a:ln>
        </p:spPr>
      </p:sp>
      <p:sp>
        <p:nvSpPr>
          <p:cNvPr id="21" name="Shape 21"/>
          <p:cNvSpPr/>
          <p:nvPr/>
        </p:nvSpPr>
        <p:spPr>
          <a:xfrm>
            <a:off x="6370320" y="1847850"/>
            <a:ext cx="285750" cy="285750"/>
          </a:xfrm>
          <a:prstGeom prst="ellipse">
            <a:avLst/>
          </a:prstGeom>
          <a:solidFill>
            <a:srgbClr val="3B6FE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6370320" y="2247900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6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상황 판단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6370320" y="2609850"/>
            <a:ext cx="1333500" cy="1181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자이로 특징을 작은 분류기에 넣어 손떨림·걷기·패닝을 구분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7246620" y="1866900"/>
            <a:ext cx="4381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시도</a:t>
            </a:r>
          </a:p>
        </p:txBody>
      </p:sp>
      <p:cxnSp>
        <p:nvCxnSpPr>
          <p:cNvPr id="25" name="Line 25"/>
          <p:cNvCxnSpPr/>
          <p:nvPr/>
        </p:nvCxnSpPr>
        <p:spPr>
          <a:xfrm>
            <a:off x="7856220" y="2781300"/>
            <a:ext cx="167640" cy="0"/>
          </a:xfrm>
          <a:prstGeom prst="line">
            <a:avLst/>
          </a:prstGeom>
          <a:ln w="22860">
            <a:solidFill>
              <a:srgbClr val="3B6FE0"/>
            </a:solidFill>
            <a:tailEnd type="triangle" w="med" len="med"/>
          </a:ln>
        </p:spPr>
      </p:cxnSp>
      <p:sp>
        <p:nvSpPr>
          <p:cNvPr id="26" name="Shape 26"/>
          <p:cNvSpPr/>
          <p:nvPr/>
        </p:nvSpPr>
        <p:spPr>
          <a:xfrm>
            <a:off x="8061960" y="1676400"/>
            <a:ext cx="1600200" cy="2209800"/>
          </a:xfrm>
          <a:prstGeom prst="roundRect">
            <a:avLst>
              <a:gd name="adj" fmla="val 5952"/>
            </a:avLst>
          </a:prstGeom>
          <a:solidFill>
            <a:srgbClr val="DCE7FB"/>
          </a:solidFill>
          <a:ln w="19050">
            <a:solidFill>
              <a:srgbClr val="3B6FE0"/>
            </a:solidFill>
          </a:ln>
        </p:spPr>
      </p:sp>
      <p:sp>
        <p:nvSpPr>
          <p:cNvPr id="27" name="Shape 27"/>
          <p:cNvSpPr/>
          <p:nvPr/>
        </p:nvSpPr>
        <p:spPr>
          <a:xfrm>
            <a:off x="8214360" y="1847850"/>
            <a:ext cx="285750" cy="285750"/>
          </a:xfrm>
          <a:prstGeom prst="ellipse">
            <a:avLst/>
          </a:prstGeom>
          <a:solidFill>
            <a:srgbClr val="3B6FE0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8" name="Shape 28"/>
          <p:cNvSpPr txBox="1"/>
          <p:nvPr/>
        </p:nvSpPr>
        <p:spPr>
          <a:xfrm>
            <a:off x="8214360" y="2247900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6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강도 조절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8214360" y="2609850"/>
            <a:ext cx="1333500" cy="1181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상황에 맞는 강도로 흔들리는 경로를 부드럽게 만듦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9090660" y="1866900"/>
            <a:ext cx="4381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시도</a:t>
            </a:r>
          </a:p>
        </p:txBody>
      </p:sp>
      <p:cxnSp>
        <p:nvCxnSpPr>
          <p:cNvPr id="31" name="Line 31"/>
          <p:cNvCxnSpPr/>
          <p:nvPr/>
        </p:nvCxnSpPr>
        <p:spPr>
          <a:xfrm>
            <a:off x="9700260" y="2781300"/>
            <a:ext cx="167640" cy="0"/>
          </a:xfrm>
          <a:prstGeom prst="line">
            <a:avLst/>
          </a:prstGeom>
          <a:ln w="22860">
            <a:solidFill>
              <a:srgbClr val="3B6FE0"/>
            </a:solidFill>
            <a:tailEnd type="triangle" w="med" len="med"/>
          </a:ln>
        </p:spPr>
      </p:cxnSp>
      <p:sp>
        <p:nvSpPr>
          <p:cNvPr id="32" name="Shape 32"/>
          <p:cNvSpPr/>
          <p:nvPr/>
        </p:nvSpPr>
        <p:spPr>
          <a:xfrm>
            <a:off x="9906000" y="1676400"/>
            <a:ext cx="1600200" cy="2209800"/>
          </a:xfrm>
          <a:prstGeom prst="roundRect">
            <a:avLst>
              <a:gd name="adj" fmla="val 5952"/>
            </a:avLst>
          </a:prstGeom>
          <a:solidFill>
            <a:srgbClr val="F3F6FC"/>
          </a:solidFill>
          <a:ln>
            <a:noFill/>
          </a:ln>
        </p:spPr>
      </p:sp>
      <p:sp>
        <p:nvSpPr>
          <p:cNvPr id="33" name="Shape 33"/>
          <p:cNvSpPr/>
          <p:nvPr/>
        </p:nvSpPr>
        <p:spPr>
          <a:xfrm>
            <a:off x="10058400" y="1847850"/>
            <a:ext cx="285750" cy="285750"/>
          </a:xfrm>
          <a:prstGeom prst="ellipse">
            <a:avLst/>
          </a:prstGeom>
          <a:solidFill>
            <a:srgbClr val="12224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34" name="Shape 34"/>
          <p:cNvSpPr txBox="1"/>
          <p:nvPr/>
        </p:nvSpPr>
        <p:spPr>
          <a:xfrm>
            <a:off x="10058400" y="2247900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6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다시 그리기</a:t>
            </a:r>
          </a:p>
        </p:txBody>
      </p:sp>
      <p:sp>
        <p:nvSpPr>
          <p:cNvPr id="35" name="Shape 35"/>
          <p:cNvSpPr txBox="1"/>
          <p:nvPr/>
        </p:nvSpPr>
        <p:spPr>
          <a:xfrm>
            <a:off x="10058400" y="2609850"/>
            <a:ext cx="1333500" cy="1181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줄별 회전 보정 후 가장자리를 잘라 영상 완성</a:t>
            </a:r>
          </a:p>
        </p:txBody>
      </p:sp>
      <p:sp>
        <p:nvSpPr>
          <p:cNvPr id="36" name="Shape 36"/>
          <p:cNvSpPr txBox="1"/>
          <p:nvPr/>
        </p:nvSpPr>
        <p:spPr>
          <a:xfrm>
            <a:off x="685800" y="430530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구현 스택</a:t>
            </a:r>
          </a:p>
        </p:txBody>
      </p:sp>
      <p:sp>
        <p:nvSpPr>
          <p:cNvPr id="37" name="Shape 37"/>
          <p:cNvSpPr/>
          <p:nvPr/>
        </p:nvSpPr>
        <p:spPr>
          <a:xfrm>
            <a:off x="685800" y="4591050"/>
            <a:ext cx="3543300" cy="704850"/>
          </a:xfrm>
          <a:prstGeom prst="roundRect">
            <a:avLst>
              <a:gd name="adj" fmla="val 13513"/>
            </a:avLst>
          </a:prstGeom>
          <a:solidFill>
            <a:srgbClr val="FFFFFF"/>
          </a:solidFill>
          <a:ln w="15240">
            <a:solidFill>
              <a:srgbClr val="DCE3F1"/>
            </a:solidFill>
          </a:ln>
        </p:spPr>
      </p:sp>
      <p:sp>
        <p:nvSpPr>
          <p:cNvPr id="38" name="Shape 38"/>
          <p:cNvSpPr txBox="1"/>
          <p:nvPr/>
        </p:nvSpPr>
        <p:spPr>
          <a:xfrm>
            <a:off x="876300" y="4705350"/>
            <a:ext cx="31623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b="1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휴대폰 앱</a:t>
            </a:r>
          </a:p>
        </p:txBody>
      </p:sp>
      <p:sp>
        <p:nvSpPr>
          <p:cNvPr id="39" name="Shape 39"/>
          <p:cNvSpPr txBox="1"/>
          <p:nvPr/>
        </p:nvSpPr>
        <p:spPr>
          <a:xfrm>
            <a:off x="876300" y="4933950"/>
            <a:ext cx="31623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5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Kotlin · Camera2 · SensorManager</a:t>
            </a:r>
          </a:p>
        </p:txBody>
      </p:sp>
      <p:sp>
        <p:nvSpPr>
          <p:cNvPr id="40" name="Shape 40"/>
          <p:cNvSpPr/>
          <p:nvPr/>
        </p:nvSpPr>
        <p:spPr>
          <a:xfrm>
            <a:off x="4362450" y="4591050"/>
            <a:ext cx="4000500" cy="704850"/>
          </a:xfrm>
          <a:prstGeom prst="roundRect">
            <a:avLst>
              <a:gd name="adj" fmla="val 13513"/>
            </a:avLst>
          </a:prstGeom>
          <a:solidFill>
            <a:srgbClr val="FFFFFF"/>
          </a:solidFill>
          <a:ln w="15240">
            <a:solidFill>
              <a:srgbClr val="DCE3F1"/>
            </a:solidFill>
          </a:ln>
        </p:spPr>
      </p:sp>
      <p:sp>
        <p:nvSpPr>
          <p:cNvPr id="41" name="Shape 41"/>
          <p:cNvSpPr txBox="1"/>
          <p:nvPr/>
        </p:nvSpPr>
        <p:spPr>
          <a:xfrm>
            <a:off x="4552950" y="4705350"/>
            <a:ext cx="3619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b="1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PC 처리(오프라인)</a:t>
            </a:r>
          </a:p>
        </p:txBody>
      </p:sp>
      <p:sp>
        <p:nvSpPr>
          <p:cNvPr id="42" name="Shape 42"/>
          <p:cNvSpPr txBox="1"/>
          <p:nvPr/>
        </p:nvSpPr>
        <p:spPr>
          <a:xfrm>
            <a:off x="4552950" y="4933950"/>
            <a:ext cx="36195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5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Python · OpenCV · scikit-learn</a:t>
            </a:r>
          </a:p>
        </p:txBody>
      </p:sp>
      <p:sp>
        <p:nvSpPr>
          <p:cNvPr id="43" name="Shape 43"/>
          <p:cNvSpPr/>
          <p:nvPr/>
        </p:nvSpPr>
        <p:spPr>
          <a:xfrm>
            <a:off x="8496300" y="4591050"/>
            <a:ext cx="3009900" cy="704850"/>
          </a:xfrm>
          <a:prstGeom prst="roundRect">
            <a:avLst>
              <a:gd name="adj" fmla="val 13513"/>
            </a:avLst>
          </a:prstGeom>
          <a:solidFill>
            <a:srgbClr val="FFFFFF"/>
          </a:solidFill>
          <a:ln w="15240">
            <a:solidFill>
              <a:srgbClr val="DCE3F1"/>
            </a:solidFill>
          </a:ln>
        </p:spPr>
      </p:sp>
      <p:sp>
        <p:nvSpPr>
          <p:cNvPr id="44" name="Shape 44"/>
          <p:cNvSpPr txBox="1"/>
          <p:nvPr/>
        </p:nvSpPr>
        <p:spPr>
          <a:xfrm>
            <a:off x="8686800" y="4705350"/>
            <a:ext cx="26289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b="1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확장(여유 시)</a:t>
            </a:r>
          </a:p>
        </p:txBody>
      </p:sp>
      <p:sp>
        <p:nvSpPr>
          <p:cNvPr id="45" name="Shape 45"/>
          <p:cNvSpPr txBox="1"/>
          <p:nvPr/>
        </p:nvSpPr>
        <p:spPr>
          <a:xfrm>
            <a:off x="8686800" y="4933950"/>
            <a:ext cx="26289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5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폰 실행·GPU 실시간</a:t>
            </a:r>
          </a:p>
        </p:txBody>
      </p:sp>
      <p:sp>
        <p:nvSpPr>
          <p:cNvPr id="46" name="Shape 46"/>
          <p:cNvSpPr txBox="1"/>
          <p:nvPr/>
        </p:nvSpPr>
        <p:spPr>
          <a:xfrm>
            <a:off x="685800" y="5562600"/>
            <a:ext cx="108204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앱은 데이터 수집용이고, 보정 처리는 PC에서 오프라인으로 한다</a:t>
            </a:r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666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06  검증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685800" y="685800"/>
            <a:ext cx="108204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30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네 가지를 비교한다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10477500" y="6438900"/>
            <a:ext cx="10287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5" name="Shape 5"/>
          <p:cNvSpPr/>
          <p:nvPr/>
        </p:nvSpPr>
        <p:spPr>
          <a:xfrm>
            <a:off x="685800" y="1524000"/>
            <a:ext cx="2533650" cy="2381250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>
            <a:noFill/>
          </a:ln>
        </p:spPr>
      </p:sp>
      <p:sp>
        <p:nvSpPr>
          <p:cNvPr id="6" name="Shape 6"/>
          <p:cNvSpPr txBox="1"/>
          <p:nvPr/>
        </p:nvSpPr>
        <p:spPr>
          <a:xfrm>
            <a:off x="914400" y="1657350"/>
            <a:ext cx="7620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40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A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914400" y="2381250"/>
            <a:ext cx="20764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8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무보정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914400" y="2743200"/>
            <a:ext cx="207645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보정하지 않은 영상 (기준선)</a:t>
            </a:r>
          </a:p>
        </p:txBody>
      </p:sp>
      <p:sp>
        <p:nvSpPr>
          <p:cNvPr id="9" name="Shape 9"/>
          <p:cNvSpPr/>
          <p:nvPr/>
        </p:nvSpPr>
        <p:spPr>
          <a:xfrm>
            <a:off x="3448050" y="1524000"/>
            <a:ext cx="2533650" cy="2381250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>
            <a:noFill/>
          </a:ln>
        </p:spPr>
      </p:sp>
      <p:sp>
        <p:nvSpPr>
          <p:cNvPr id="10" name="Shape 10"/>
          <p:cNvSpPr txBox="1"/>
          <p:nvPr/>
        </p:nvSpPr>
        <p:spPr>
          <a:xfrm>
            <a:off x="3676650" y="1657350"/>
            <a:ext cx="7620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40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B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3676650" y="2381250"/>
            <a:ext cx="20764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8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갤럭시 기본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3676650" y="2743200"/>
            <a:ext cx="207645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갤럭시 자체 안정화를 켜고 촬영 (촬영 중 적용되므로 따로 촬영)</a:t>
            </a:r>
          </a:p>
        </p:txBody>
      </p:sp>
      <p:sp>
        <p:nvSpPr>
          <p:cNvPr id="13" name="Shape 13"/>
          <p:cNvSpPr/>
          <p:nvPr/>
        </p:nvSpPr>
        <p:spPr>
          <a:xfrm>
            <a:off x="6210300" y="1524000"/>
            <a:ext cx="2533650" cy="2381250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6438900" y="1657350"/>
            <a:ext cx="7620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40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C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6438900" y="2381250"/>
            <a:ext cx="20764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8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고정 강도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6438900" y="2743200"/>
            <a:ext cx="207645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내가 만든 기본 구현 (강도를 하나로 고정)</a:t>
            </a:r>
          </a:p>
        </p:txBody>
      </p:sp>
      <p:sp>
        <p:nvSpPr>
          <p:cNvPr id="17" name="Shape 17"/>
          <p:cNvSpPr/>
          <p:nvPr/>
        </p:nvSpPr>
        <p:spPr>
          <a:xfrm>
            <a:off x="8972550" y="1524000"/>
            <a:ext cx="2533650" cy="2381250"/>
          </a:xfrm>
          <a:prstGeom prst="roundRect">
            <a:avLst>
              <a:gd name="adj" fmla="val 4000"/>
            </a:avLst>
          </a:prstGeom>
          <a:solidFill>
            <a:srgbClr val="12224A"/>
          </a:solidFill>
          <a:ln>
            <a:noFill/>
          </a:ln>
        </p:spPr>
      </p:sp>
      <p:sp>
        <p:nvSpPr>
          <p:cNvPr id="18" name="Shape 18"/>
          <p:cNvSpPr txBox="1"/>
          <p:nvPr/>
        </p:nvSpPr>
        <p:spPr>
          <a:xfrm>
            <a:off x="9201150" y="1657350"/>
            <a:ext cx="7620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4000" b="1" dirty="0">
                <a:solidFill>
                  <a:srgbClr val="9FC0FF"/>
                </a:solidFill>
                <a:latin typeface="맑은 고딕"/>
                <a:ea typeface="맑은 고딕"/>
                <a:cs typeface="맑은 고딕"/>
              </a:rPr>
              <a:t>D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9201150" y="2381250"/>
            <a:ext cx="20764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8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적응형 (시도)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9201150" y="2743200"/>
            <a:ext cx="207645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00" dirty="0">
                <a:solidFill>
                  <a:srgbClr val="DCE7FB"/>
                </a:solidFill>
                <a:latin typeface="맑은 고딕"/>
                <a:ea typeface="맑은 고딕"/>
                <a:cs typeface="맑은 고딕"/>
              </a:rPr>
              <a:t>C에 학습한 분류기의 상황 판단과 강도 자동 조절을 추가</a:t>
            </a:r>
          </a:p>
        </p:txBody>
      </p:sp>
      <p:sp>
        <p:nvSpPr>
          <p:cNvPr id="21" name="Shape 21"/>
          <p:cNvSpPr/>
          <p:nvPr/>
        </p:nvSpPr>
        <p:spPr>
          <a:xfrm>
            <a:off x="685800" y="4248150"/>
            <a:ext cx="10820400" cy="1619250"/>
          </a:xfrm>
          <a:prstGeom prst="roundRect">
            <a:avLst>
              <a:gd name="adj" fmla="val 5882"/>
            </a:avLst>
          </a:prstGeom>
          <a:solidFill>
            <a:srgbClr val="dce7fb"/>
          </a:solidFill>
          <a:ln>
            <a:noFill/>
          </a:ln>
        </p:spPr>
        <p:txBody>
          <a:bodyPr wrap="square" lIns="266700" tIns="209550" rIns="266700" bIns="171450" anchor="t">
            <a:noAutofit/>
          </a:bodyPr>
          <a:lstStyle/>
          <a:p>
            <a:pPr lv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ko-KR" sz="1300" b="1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어떻게 비교하나</a:t>
            </a:r>
            <a:endParaRPr lang="ko-KR" sz="1300" b="1">
              <a:solidFill>
                <a:srgbClr val="3b6fe0"/>
              </a:solidFill>
              <a:latin typeface="맑은 고딕"/>
              <a:ea typeface="맑은 고딕"/>
              <a:cs typeface="맑은 고딕"/>
            </a:endParaRPr>
          </a:p>
          <a:p>
            <a:pPr lv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ko-KR" sz="1600" b="1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A·C·D는 같은 원본 영상을 후처리해서 비교, B는 같은 코스를 여러 번 따로 촬영해 평균으로 비교</a:t>
            </a:r>
            <a:endParaRPr lang="ko-KR" sz="1600" b="1">
              <a:solidFill>
                <a:srgbClr val="12224a"/>
              </a:solidFill>
              <a:latin typeface="맑은 고딕"/>
              <a:ea typeface="맑은 고딕"/>
              <a:cs typeface="맑은 고딕"/>
            </a:endParaRPr>
          </a:p>
          <a:p>
            <a: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sz="140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갤럭시 기본 안정화는 촬영 중에 적용되므로, 이미 찍은 영상에 나중에 씌울 수 없기 때문</a:t>
            </a:r>
            <a:endParaRPr lang="ko-KR" sz="1400">
              <a:solidFill>
                <a:srgbClr val="6b7591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>
            <a:off x="685800" y="457200"/>
            <a:ext cx="666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07  측정 방법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685800" y="685800"/>
            <a:ext cx="108204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30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무엇을, 얼마나 재나?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10477500" y="6438900"/>
            <a:ext cx="10287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cxnSp>
        <p:nvCxnSpPr>
          <p:cNvPr id="5" name="Line 5"/>
          <p:cNvCxnSpPr/>
          <p:nvPr/>
        </p:nvCxnSpPr>
        <p:spPr>
          <a:xfrm>
            <a:off x="685800" y="1524000"/>
            <a:ext cx="10820400" cy="0"/>
          </a:xfrm>
          <a:prstGeom prst="line">
            <a:avLst/>
          </a:prstGeom>
          <a:ln w="15240">
            <a:solidFill>
              <a:srgbClr val="DCE3F1"/>
            </a:solidFill>
          </a:ln>
        </p:spPr>
      </p:cxnSp>
      <p:sp>
        <p:nvSpPr>
          <p:cNvPr id="6" name="Shape 6"/>
          <p:cNvSpPr txBox="1"/>
          <p:nvPr/>
        </p:nvSpPr>
        <p:spPr>
          <a:xfrm>
            <a:off x="685800" y="1714500"/>
            <a:ext cx="27622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8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재는 것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3619500" y="1714500"/>
            <a:ext cx="78867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6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안정도(앞뒤 프레임이 비슷한 정도), 패닝 반응 지연, 잘려나간 화면 비율, 상황 구분 정확도, 기록 중 배터리 소모</a:t>
            </a:r>
          </a:p>
        </p:txBody>
      </p:sp>
      <p:cxnSp>
        <p:nvCxnSpPr>
          <p:cNvPr id="8" name="Line 8"/>
          <p:cNvCxnSpPr/>
          <p:nvPr/>
        </p:nvCxnSpPr>
        <p:spPr>
          <a:xfrm>
            <a:off x="685800" y="2628900"/>
            <a:ext cx="10820400" cy="0"/>
          </a:xfrm>
          <a:prstGeom prst="line">
            <a:avLst/>
          </a:prstGeom>
          <a:ln w="15240">
            <a:solidFill>
              <a:srgbClr val="DCE3F1"/>
            </a:solidFill>
          </a:ln>
        </p:spPr>
      </p:cxnSp>
      <p:sp>
        <p:nvSpPr>
          <p:cNvPr id="9" name="Shape 9"/>
          <p:cNvSpPr txBox="1"/>
          <p:nvPr/>
        </p:nvSpPr>
        <p:spPr>
          <a:xfrm>
            <a:off x="685800" y="2819400"/>
            <a:ext cx="27622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8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바꿔보는 하드웨어 조건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3619500" y="2819400"/>
            <a:ext cx="78867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6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자이로 측정 주기(정확도와 배터리 소모를 함께 비교), 시계 맞추기 적용 여부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685800" y="3733800"/>
            <a:ext cx="10820400" cy="0"/>
          </a:xfrm>
          <a:prstGeom prst="line">
            <a:avLst/>
          </a:prstGeom>
          <a:ln w="15240">
            <a:solidFill>
              <a:srgbClr val="DCE3F1"/>
            </a:solidFill>
          </a:ln>
        </p:spPr>
      </p:cxnSp>
      <p:sp>
        <p:nvSpPr>
          <p:cNvPr id="12" name="Shape 12"/>
          <p:cNvSpPr txBox="1"/>
          <p:nvPr/>
        </p:nvSpPr>
        <p:spPr>
          <a:xfrm>
            <a:off x="685800" y="3924300"/>
            <a:ext cx="27622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8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실험 규모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3619500" y="3924300"/>
            <a:ext cx="78867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6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제자리·걷기·패닝 3가지 상황을 각 5회씩 촬영. 영상을 짧은 구간으로 잘라 학습용과 검증용으로 나누고, 결과는 평균과 편차로 비교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685800" y="4838700"/>
            <a:ext cx="10820400" cy="0"/>
          </a:xfrm>
          <a:prstGeom prst="line">
            <a:avLst/>
          </a:prstGeom>
          <a:ln w="15240">
            <a:solidFill>
              <a:srgbClr val="DCE3F1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5029200"/>
            <a:ext cx="27622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8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성공 기준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3619500" y="5029200"/>
            <a:ext cx="78867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6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적응형이 고정 강도보다 패닝 반응 지연을 줄이면서 안정도를 크게 잃지 않는가 (목표 수치는 측정 후 확정)</a:t>
            </a:r>
          </a:p>
        </p:txBody>
      </p:sp>
      <p:cxnSp>
        <p:nvCxnSpPr>
          <p:cNvPr id="17" name="Line 17"/>
          <p:cNvCxnSpPr/>
          <p:nvPr/>
        </p:nvCxnSpPr>
        <p:spPr>
          <a:xfrm>
            <a:off x="685800" y="5943600"/>
            <a:ext cx="10820400" cy="0"/>
          </a:xfrm>
          <a:prstGeom prst="line">
            <a:avLst/>
          </a:prstGeom>
          <a:ln w="15240">
            <a:solidFill>
              <a:srgbClr val="DCE3F1"/>
            </a:solidFill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>
            <a:off x="685800" y="457200"/>
            <a:ext cx="666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08  결과물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685800" y="685800"/>
            <a:ext cx="108204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30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무엇을 만드나?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10477500" y="6438900"/>
            <a:ext cx="10287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5" name="Shape 5"/>
          <p:cNvSpPr/>
          <p:nvPr/>
        </p:nvSpPr>
        <p:spPr>
          <a:xfrm>
            <a:off x="685800" y="1524000"/>
            <a:ext cx="5295900" cy="1981200"/>
          </a:xfrm>
          <a:prstGeom prst="roundRect">
            <a:avLst>
              <a:gd name="adj" fmla="val 4807"/>
            </a:avLst>
          </a:prstGeom>
          <a:solidFill>
            <a:srgbClr val="F3F6FC"/>
          </a:solidFill>
          <a:ln>
            <a:noFill/>
          </a:ln>
        </p:spPr>
      </p:sp>
      <p:sp>
        <p:nvSpPr>
          <p:cNvPr id="6" name="Shape 6"/>
          <p:cNvSpPr txBox="1"/>
          <p:nvPr/>
        </p:nvSpPr>
        <p:spPr>
          <a:xfrm>
            <a:off x="952500" y="1752600"/>
            <a:ext cx="762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952500" y="2038350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20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기록 앱 (Android)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952500" y="2514600"/>
            <a:ext cx="4762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5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영상과 자이로를 같은 시각 기준으로 동시에 기록하는 데이터 수집용 앱</a:t>
            </a:r>
          </a:p>
        </p:txBody>
      </p:sp>
      <p:sp>
        <p:nvSpPr>
          <p:cNvPr id="9" name="Shape 9"/>
          <p:cNvSpPr/>
          <p:nvPr/>
        </p:nvSpPr>
        <p:spPr>
          <a:xfrm>
            <a:off x="6210300" y="1524000"/>
            <a:ext cx="5295900" cy="1981200"/>
          </a:xfrm>
          <a:prstGeom prst="roundRect">
            <a:avLst>
              <a:gd name="adj" fmla="val 4807"/>
            </a:avLst>
          </a:prstGeom>
          <a:solidFill>
            <a:srgbClr val="F3F6FC"/>
          </a:solidFill>
          <a:ln>
            <a:noFill/>
          </a:ln>
        </p:spPr>
      </p:sp>
      <p:sp>
        <p:nvSpPr>
          <p:cNvPr id="10" name="Shape 10"/>
          <p:cNvSpPr txBox="1"/>
          <p:nvPr/>
        </p:nvSpPr>
        <p:spPr>
          <a:xfrm>
            <a:off x="6477000" y="1752600"/>
            <a:ext cx="762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477000" y="2038350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20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안정화 프로그램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6477000" y="2514600"/>
            <a:ext cx="4762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5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기록한 데이터로 흔들림을 보정. 강도 고정 버전에서 시작해, 학습한 분류기로 상황에 맞춰 강도를 바꾸는 적응형 버전까지 단계별로 최적화</a:t>
            </a:r>
          </a:p>
        </p:txBody>
      </p:sp>
      <p:sp>
        <p:nvSpPr>
          <p:cNvPr id="13" name="Shape 13"/>
          <p:cNvSpPr/>
          <p:nvPr/>
        </p:nvSpPr>
        <p:spPr>
          <a:xfrm>
            <a:off x="685800" y="3733800"/>
            <a:ext cx="5295900" cy="1981200"/>
          </a:xfrm>
          <a:prstGeom prst="roundRect">
            <a:avLst>
              <a:gd name="adj" fmla="val 4807"/>
            </a:avLst>
          </a:prstGeom>
          <a:solidFill>
            <a:srgbClr val="F3F6FC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952500" y="3962400"/>
            <a:ext cx="762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952500" y="4248150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20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비교 결과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952500" y="4724400"/>
            <a:ext cx="4762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5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무보정·갤럭시 기본·고정 강도·적응형을 비교한 표와 그래프, 자이로 주기별 배터리 소모 비교</a:t>
            </a:r>
          </a:p>
        </p:txBody>
      </p:sp>
      <p:sp>
        <p:nvSpPr>
          <p:cNvPr id="17" name="Shape 17"/>
          <p:cNvSpPr/>
          <p:nvPr/>
        </p:nvSpPr>
        <p:spPr>
          <a:xfrm>
            <a:off x="6210300" y="3733800"/>
            <a:ext cx="5295900" cy="1981200"/>
          </a:xfrm>
          <a:prstGeom prst="roundRect">
            <a:avLst>
              <a:gd name="adj" fmla="val 4807"/>
            </a:avLst>
          </a:prstGeom>
          <a:solidFill>
            <a:srgbClr val="F3F6FC"/>
          </a:solidFill>
          <a:ln>
            <a:noFill/>
          </a:ln>
        </p:spPr>
      </p:sp>
      <p:sp>
        <p:nvSpPr>
          <p:cNvPr id="18" name="Shape 18"/>
          <p:cNvSpPr txBox="1"/>
          <p:nvPr/>
        </p:nvSpPr>
        <p:spPr>
          <a:xfrm>
            <a:off x="6477000" y="3962400"/>
            <a:ext cx="762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6477000" y="4248150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20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분석 보고서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477000" y="4724400"/>
            <a:ext cx="4762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5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어떤 조건에서 개선됐고 갤럭시와 어디서 차이 나는지, 한계는 무엇인지 정리 (여유 시: 폰에서 실행해 처리 시간 측정, GPU 실시간 처리)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>
            <a:off x="685800" y="457200"/>
            <a:ext cx="666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09  먼저 확인할 것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685800" y="685800"/>
            <a:ext cx="108204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30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시작 후 2주 안에 확인할 세 가지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10477500" y="6438900"/>
            <a:ext cx="10287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685800" y="1428750"/>
            <a:ext cx="4762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확인할 것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6286500" y="1428750"/>
            <a:ext cx="4762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어떻게 하나</a:t>
            </a:r>
          </a:p>
        </p:txBody>
      </p:sp>
      <p:sp>
        <p:nvSpPr>
          <p:cNvPr id="7" name="Shape 7"/>
          <p:cNvSpPr/>
          <p:nvPr/>
        </p:nvSpPr>
        <p:spPr>
          <a:xfrm>
            <a:off x="685800" y="1752600"/>
            <a:ext cx="5143500" cy="1181100"/>
          </a:xfrm>
          <a:prstGeom prst="roundRect">
            <a:avLst>
              <a:gd name="adj" fmla="val 8064"/>
            </a:avLst>
          </a:prstGeom>
          <a:solidFill>
            <a:srgbClr val="F3F6FC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895350" y="2171700"/>
            <a:ext cx="342900" cy="342900"/>
          </a:xfrm>
          <a:prstGeom prst="ellipse">
            <a:avLst/>
          </a:prstGeom>
          <a:solidFill>
            <a:srgbClr val="12224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5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409700" y="1866900"/>
            <a:ext cx="4191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6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영상과 자이로의 시간이 맞는지</a:t>
            </a:r>
          </a:p>
        </p:txBody>
      </p:sp>
      <p:cxnSp>
        <p:nvCxnSpPr>
          <p:cNvPr id="10" name="Line 10"/>
          <p:cNvCxnSpPr/>
          <p:nvPr/>
        </p:nvCxnSpPr>
        <p:spPr>
          <a:xfrm>
            <a:off x="5962650" y="2343150"/>
            <a:ext cx="228600" cy="0"/>
          </a:xfrm>
          <a:prstGeom prst="line">
            <a:avLst/>
          </a:prstGeom>
          <a:ln w="25400">
            <a:solidFill>
              <a:srgbClr val="3B6FE0"/>
            </a:solidFill>
            <a:tailEnd type="triangle" w="med" len="med"/>
          </a:ln>
        </p:spPr>
      </p:cxnSp>
      <p:sp>
        <p:nvSpPr>
          <p:cNvPr id="11" name="Shape 11"/>
          <p:cNvSpPr/>
          <p:nvPr/>
        </p:nvSpPr>
        <p:spPr>
          <a:xfrm>
            <a:off x="6305550" y="1752600"/>
            <a:ext cx="5200650" cy="118110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5240">
            <a:solidFill>
              <a:srgbClr val="DCE3F1"/>
            </a:solidFill>
          </a:ln>
        </p:spPr>
      </p:sp>
      <p:sp>
        <p:nvSpPr>
          <p:cNvPr id="12" name="Shape 12"/>
          <p:cNvSpPr txBox="1"/>
          <p:nvPr/>
        </p:nvSpPr>
        <p:spPr>
          <a:xfrm>
            <a:off x="6534150" y="1866900"/>
            <a:ext cx="47625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6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초반에 먼저 확인하고, 어긋나면 어긋난 시간을 찾아 보정</a:t>
            </a:r>
          </a:p>
        </p:txBody>
      </p:sp>
      <p:sp>
        <p:nvSpPr>
          <p:cNvPr id="13" name="Shape 13"/>
          <p:cNvSpPr/>
          <p:nvPr/>
        </p:nvSpPr>
        <p:spPr>
          <a:xfrm>
            <a:off x="685800" y="3181350"/>
            <a:ext cx="5143500" cy="1181100"/>
          </a:xfrm>
          <a:prstGeom prst="roundRect">
            <a:avLst>
              <a:gd name="adj" fmla="val 8064"/>
            </a:avLst>
          </a:prstGeom>
          <a:solidFill>
            <a:srgbClr val="F3F6FC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895350" y="3600450"/>
            <a:ext cx="342900" cy="342900"/>
          </a:xfrm>
          <a:prstGeom prst="ellipse">
            <a:avLst/>
          </a:prstGeom>
          <a:solidFill>
            <a:srgbClr val="12224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5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1409700" y="3295650"/>
            <a:ext cx="4191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6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카메라 자체 손떨림 보정(OIS)이 영상에 섞이는지</a:t>
            </a:r>
          </a:p>
        </p:txBody>
      </p:sp>
      <p:cxnSp>
        <p:nvCxnSpPr>
          <p:cNvPr id="16" name="Line 16"/>
          <p:cNvCxnSpPr/>
          <p:nvPr/>
        </p:nvCxnSpPr>
        <p:spPr>
          <a:xfrm>
            <a:off x="5962650" y="3771900"/>
            <a:ext cx="228600" cy="0"/>
          </a:xfrm>
          <a:prstGeom prst="line">
            <a:avLst/>
          </a:prstGeom>
          <a:ln w="25400">
            <a:solidFill>
              <a:srgbClr val="3B6FE0"/>
            </a:solidFill>
            <a:tailEnd type="triangle" w="med" len="med"/>
          </a:ln>
        </p:spPr>
      </p:cxnSp>
      <p:sp>
        <p:nvSpPr>
          <p:cNvPr id="17" name="Shape 17"/>
          <p:cNvSpPr/>
          <p:nvPr/>
        </p:nvSpPr>
        <p:spPr>
          <a:xfrm>
            <a:off x="6305550" y="3181350"/>
            <a:ext cx="5200650" cy="118110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5240">
            <a:solidFill>
              <a:srgbClr val="DCE3F1"/>
            </a:solidFill>
          </a:ln>
        </p:spPr>
      </p:sp>
      <p:sp>
        <p:nvSpPr>
          <p:cNvPr id="18" name="Shape 18"/>
          <p:cNvSpPr txBox="1"/>
          <p:nvPr/>
        </p:nvSpPr>
        <p:spPr>
          <a:xfrm>
            <a:off x="6534150" y="3295650"/>
            <a:ext cx="47625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6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끌 수 있으면 끄고 촬영, 안 되면 그 영향을 한계로 기록</a:t>
            </a:r>
          </a:p>
        </p:txBody>
      </p:sp>
      <p:sp>
        <p:nvSpPr>
          <p:cNvPr id="19" name="Shape 19"/>
          <p:cNvSpPr/>
          <p:nvPr/>
        </p:nvSpPr>
        <p:spPr>
          <a:xfrm>
            <a:off x="685800" y="4610100"/>
            <a:ext cx="5143500" cy="1181100"/>
          </a:xfrm>
          <a:prstGeom prst="roundRect">
            <a:avLst>
              <a:gd name="adj" fmla="val 8064"/>
            </a:avLst>
          </a:prstGeom>
          <a:solidFill>
            <a:srgbClr val="F3F6FC"/>
          </a:solidFill>
          <a:ln>
            <a:noFill/>
          </a:ln>
        </p:spPr>
      </p:sp>
      <p:sp>
        <p:nvSpPr>
          <p:cNvPr id="20" name="Shape 20"/>
          <p:cNvSpPr/>
          <p:nvPr/>
        </p:nvSpPr>
        <p:spPr>
          <a:xfrm>
            <a:off x="895350" y="5029200"/>
            <a:ext cx="342900" cy="342900"/>
          </a:xfrm>
          <a:prstGeom prst="ellipse">
            <a:avLst/>
          </a:prstGeom>
          <a:solidFill>
            <a:srgbClr val="12224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5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1409700" y="4724400"/>
            <a:ext cx="4191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6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갤럭시 기본은 같은 영상에 나중에 적용할 수 없다는 점</a:t>
            </a:r>
          </a:p>
        </p:txBody>
      </p:sp>
      <p:cxnSp>
        <p:nvCxnSpPr>
          <p:cNvPr id="22" name="Line 22"/>
          <p:cNvCxnSpPr/>
          <p:nvPr/>
        </p:nvCxnSpPr>
        <p:spPr>
          <a:xfrm>
            <a:off x="5962650" y="5200650"/>
            <a:ext cx="228600" cy="0"/>
          </a:xfrm>
          <a:prstGeom prst="line">
            <a:avLst/>
          </a:prstGeom>
          <a:ln w="25400">
            <a:solidFill>
              <a:srgbClr val="3B6FE0"/>
            </a:solidFill>
            <a:tailEnd type="triangle" w="med" len="med"/>
          </a:ln>
        </p:spPr>
      </p:cxnSp>
      <p:sp>
        <p:nvSpPr>
          <p:cNvPr id="23" name="Shape 23"/>
          <p:cNvSpPr/>
          <p:nvPr/>
        </p:nvSpPr>
        <p:spPr>
          <a:xfrm>
            <a:off x="6305550" y="4610100"/>
            <a:ext cx="5200650" cy="118110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5240">
            <a:solidFill>
              <a:srgbClr val="DCE3F1"/>
            </a:solidFill>
          </a:ln>
        </p:spPr>
      </p:sp>
      <p:sp>
        <p:nvSpPr>
          <p:cNvPr id="24" name="Shape 24"/>
          <p:cNvSpPr txBox="1"/>
          <p:nvPr/>
        </p:nvSpPr>
        <p:spPr>
          <a:xfrm>
            <a:off x="6534150" y="4724400"/>
            <a:ext cx="47625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6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같은 코스를 여러 번 촬영해 평균으로 비교</a:t>
            </a:r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666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 dirty="0">
                <a:solidFill>
                  <a:srgbClr val="3B6FE0"/>
                </a:solidFill>
                <a:latin typeface="맑은 고딕"/>
                <a:ea typeface="맑은 고딕"/>
                <a:cs typeface="맑은 고딕"/>
              </a:rPr>
              <a:t>10  일정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685800" y="685800"/>
            <a:ext cx="108204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30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10주 일정 (학기 4~13주차)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10477500" y="6438900"/>
            <a:ext cx="10287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685800" y="14287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300" b="1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기간 / 할 일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715000" y="1428750"/>
            <a:ext cx="57912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294120" y="1428750"/>
            <a:ext cx="57912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6873240" y="1428750"/>
            <a:ext cx="57912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7452360" y="1428750"/>
            <a:ext cx="57912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8031480" y="1428750"/>
            <a:ext cx="57912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8610600" y="1428750"/>
            <a:ext cx="57912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9189720" y="1428750"/>
            <a:ext cx="57912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9768840" y="1428750"/>
            <a:ext cx="57912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10347960" y="1428750"/>
            <a:ext cx="57912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10927080" y="1428750"/>
            <a:ext cx="57912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5715000" y="121920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200" b="1" dirty="0">
                <a:solidFill>
                  <a:srgbClr val="6B7591"/>
                </a:solidFill>
                <a:latin typeface="맑은 고딕"/>
                <a:ea typeface="맑은 고딕"/>
                <a:cs typeface="맑은 고딕"/>
              </a:rPr>
              <a:t>학기 주차</a:t>
            </a:r>
          </a:p>
        </p:txBody>
      </p:sp>
      <p:cxnSp>
        <p:nvCxnSpPr>
          <p:cNvPr id="17" name="Line 17"/>
          <p:cNvCxnSpPr/>
          <p:nvPr/>
        </p:nvCxnSpPr>
        <p:spPr>
          <a:xfrm>
            <a:off x="5715000" y="1676400"/>
            <a:ext cx="0" cy="4000500"/>
          </a:xfrm>
          <a:prstGeom prst="line">
            <a:avLst/>
          </a:prstGeom>
          <a:ln w="12700">
            <a:solidFill>
              <a:srgbClr val="DCE3F1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6294120" y="1676400"/>
            <a:ext cx="0" cy="4000500"/>
          </a:xfrm>
          <a:prstGeom prst="line">
            <a:avLst/>
          </a:prstGeom>
          <a:ln w="12700">
            <a:solidFill>
              <a:srgbClr val="DCE3F1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6873240" y="1676400"/>
            <a:ext cx="0" cy="4000500"/>
          </a:xfrm>
          <a:prstGeom prst="line">
            <a:avLst/>
          </a:prstGeom>
          <a:ln w="12700">
            <a:solidFill>
              <a:srgbClr val="DCE3F1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7452360" y="1676400"/>
            <a:ext cx="0" cy="4000500"/>
          </a:xfrm>
          <a:prstGeom prst="line">
            <a:avLst/>
          </a:prstGeom>
          <a:ln w="12700">
            <a:solidFill>
              <a:srgbClr val="DCE3F1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8031480" y="1676400"/>
            <a:ext cx="0" cy="4000500"/>
          </a:xfrm>
          <a:prstGeom prst="line">
            <a:avLst/>
          </a:prstGeom>
          <a:ln w="12700">
            <a:solidFill>
              <a:srgbClr val="DCE3F1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8610600" y="1676400"/>
            <a:ext cx="0" cy="4000500"/>
          </a:xfrm>
          <a:prstGeom prst="line">
            <a:avLst/>
          </a:prstGeom>
          <a:ln w="12700">
            <a:solidFill>
              <a:srgbClr val="DCE3F1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9189720" y="1676400"/>
            <a:ext cx="0" cy="4000500"/>
          </a:xfrm>
          <a:prstGeom prst="line">
            <a:avLst/>
          </a:prstGeom>
          <a:ln w="12700">
            <a:solidFill>
              <a:srgbClr val="DCE3F1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9768840" y="1676400"/>
            <a:ext cx="0" cy="4000500"/>
          </a:xfrm>
          <a:prstGeom prst="line">
            <a:avLst/>
          </a:prstGeom>
          <a:ln w="12700">
            <a:solidFill>
              <a:srgbClr val="DCE3F1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10347960" y="1676400"/>
            <a:ext cx="0" cy="4000500"/>
          </a:xfrm>
          <a:prstGeom prst="line">
            <a:avLst/>
          </a:prstGeom>
          <a:ln w="12700">
            <a:solidFill>
              <a:srgbClr val="DCE3F1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0927080" y="1676400"/>
            <a:ext cx="0" cy="4000500"/>
          </a:xfrm>
          <a:prstGeom prst="line">
            <a:avLst/>
          </a:prstGeom>
          <a:ln w="12700">
            <a:solidFill>
              <a:srgbClr val="DCE3F1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1506200" y="1676400"/>
            <a:ext cx="0" cy="4000500"/>
          </a:xfrm>
          <a:prstGeom prst="line">
            <a:avLst/>
          </a:prstGeom>
          <a:ln w="12700">
            <a:solidFill>
              <a:srgbClr val="DCE3F1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685800" y="1676400"/>
            <a:ext cx="10820400" cy="0"/>
          </a:xfrm>
          <a:prstGeom prst="line">
            <a:avLst/>
          </a:prstGeom>
          <a:ln w="12700">
            <a:solidFill>
              <a:srgbClr val="DCE3F1"/>
            </a:solidFill>
          </a:ln>
        </p:spPr>
      </p:cxnSp>
      <p:sp>
        <p:nvSpPr>
          <p:cNvPr id="29" name="Shape 29"/>
          <p:cNvSpPr txBox="1"/>
          <p:nvPr/>
        </p:nvSpPr>
        <p:spPr>
          <a:xfrm>
            <a:off x="685800" y="1733550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6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4~5주차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685800" y="200025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기록 앱 제작, 시간 정렬과 OIS 동작부터 확인</a:t>
            </a:r>
          </a:p>
        </p:txBody>
      </p:sp>
      <p:sp>
        <p:nvSpPr>
          <p:cNvPr id="31" name="Shape 31"/>
          <p:cNvSpPr/>
          <p:nvPr/>
        </p:nvSpPr>
        <p:spPr>
          <a:xfrm>
            <a:off x="5753100" y="1924050"/>
            <a:ext cx="1082040" cy="285750"/>
          </a:xfrm>
          <a:prstGeom prst="roundRect">
            <a:avLst>
              <a:gd name="adj" fmla="val 26666"/>
            </a:avLst>
          </a:prstGeom>
          <a:solidFill>
            <a:srgbClr val="12224A"/>
          </a:solidFill>
          <a:ln>
            <a:noFill/>
          </a:ln>
        </p:spPr>
      </p:sp>
      <p:cxnSp>
        <p:nvCxnSpPr>
          <p:cNvPr id="32" name="Line 32"/>
          <p:cNvCxnSpPr/>
          <p:nvPr/>
        </p:nvCxnSpPr>
        <p:spPr>
          <a:xfrm>
            <a:off x="685800" y="2476500"/>
            <a:ext cx="10820400" cy="0"/>
          </a:xfrm>
          <a:prstGeom prst="line">
            <a:avLst/>
          </a:prstGeom>
          <a:ln w="12700">
            <a:solidFill>
              <a:srgbClr val="DCE3F1"/>
            </a:solidFill>
          </a:ln>
        </p:spPr>
      </p:cxnSp>
      <p:sp>
        <p:nvSpPr>
          <p:cNvPr id="33" name="Shape 33"/>
          <p:cNvSpPr txBox="1"/>
          <p:nvPr/>
        </p:nvSpPr>
        <p:spPr>
          <a:xfrm>
            <a:off x="685800" y="2533650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6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6~7주차</a:t>
            </a:r>
          </a:p>
        </p:txBody>
      </p:sp>
      <p:sp>
        <p:nvSpPr>
          <p:cNvPr id="34" name="Shape 34"/>
          <p:cNvSpPr txBox="1"/>
          <p:nvPr/>
        </p:nvSpPr>
        <p:spPr>
          <a:xfrm>
            <a:off x="685800" y="280035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걷기·제자리·패닝 영상 촬영, 기본 안정화(고정 강도) 구현</a:t>
            </a:r>
          </a:p>
        </p:txBody>
      </p:sp>
      <p:sp>
        <p:nvSpPr>
          <p:cNvPr id="35" name="Shape 35"/>
          <p:cNvSpPr/>
          <p:nvPr/>
        </p:nvSpPr>
        <p:spPr>
          <a:xfrm>
            <a:off x="6911340" y="2724150"/>
            <a:ext cx="1082040" cy="285750"/>
          </a:xfrm>
          <a:prstGeom prst="roundRect">
            <a:avLst>
              <a:gd name="adj" fmla="val 26666"/>
            </a:avLst>
          </a:prstGeom>
          <a:solidFill>
            <a:srgbClr val="12224A"/>
          </a:solidFill>
          <a:ln>
            <a:noFill/>
          </a:ln>
        </p:spPr>
      </p:sp>
      <p:cxnSp>
        <p:nvCxnSpPr>
          <p:cNvPr id="36" name="Line 36"/>
          <p:cNvCxnSpPr/>
          <p:nvPr/>
        </p:nvCxnSpPr>
        <p:spPr>
          <a:xfrm>
            <a:off x="685800" y="3276600"/>
            <a:ext cx="10820400" cy="0"/>
          </a:xfrm>
          <a:prstGeom prst="line">
            <a:avLst/>
          </a:prstGeom>
          <a:ln w="12700">
            <a:solidFill>
              <a:srgbClr val="DCE3F1"/>
            </a:solidFill>
          </a:ln>
        </p:spPr>
      </p:cxnSp>
      <p:sp>
        <p:nvSpPr>
          <p:cNvPr id="37" name="Shape 37"/>
          <p:cNvSpPr txBox="1"/>
          <p:nvPr/>
        </p:nvSpPr>
        <p:spPr>
          <a:xfrm>
            <a:off x="685800" y="3333750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6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8~9주차</a:t>
            </a:r>
          </a:p>
        </p:txBody>
      </p:sp>
      <p:sp>
        <p:nvSpPr>
          <p:cNvPr id="38" name="Shape 38"/>
          <p:cNvSpPr txBox="1"/>
          <p:nvPr/>
        </p:nvSpPr>
        <p:spPr>
          <a:xfrm>
            <a:off x="685800" y="360045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시계 맞추기와 줄별 보정 적용, 상황 구분 분류기 학습</a:t>
            </a:r>
          </a:p>
        </p:txBody>
      </p:sp>
      <p:sp>
        <p:nvSpPr>
          <p:cNvPr id="39" name="Shape 39"/>
          <p:cNvSpPr/>
          <p:nvPr/>
        </p:nvSpPr>
        <p:spPr>
          <a:xfrm>
            <a:off x="8069580" y="3524250"/>
            <a:ext cx="1082040" cy="285750"/>
          </a:xfrm>
          <a:prstGeom prst="roundRect">
            <a:avLst>
              <a:gd name="adj" fmla="val 26666"/>
            </a:avLst>
          </a:prstGeom>
          <a:solidFill>
            <a:srgbClr val="12224A"/>
          </a:solidFill>
          <a:ln>
            <a:noFill/>
          </a:ln>
        </p:spPr>
      </p:sp>
      <p:cxnSp>
        <p:nvCxnSpPr>
          <p:cNvPr id="40" name="Line 40"/>
          <p:cNvCxnSpPr/>
          <p:nvPr/>
        </p:nvCxnSpPr>
        <p:spPr>
          <a:xfrm>
            <a:off x="685800" y="4076700"/>
            <a:ext cx="10820400" cy="0"/>
          </a:xfrm>
          <a:prstGeom prst="line">
            <a:avLst/>
          </a:prstGeom>
          <a:ln w="12700">
            <a:solidFill>
              <a:srgbClr val="DCE3F1"/>
            </a:solidFill>
          </a:ln>
        </p:spPr>
      </p:cxnSp>
      <p:sp>
        <p:nvSpPr>
          <p:cNvPr id="41" name="Shape 41"/>
          <p:cNvSpPr txBox="1"/>
          <p:nvPr/>
        </p:nvSpPr>
        <p:spPr>
          <a:xfrm>
            <a:off x="685800" y="4133850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6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10~12주차</a:t>
            </a:r>
          </a:p>
        </p:txBody>
      </p:sp>
      <p:sp>
        <p:nvSpPr>
          <p:cNvPr id="42" name="Shape 42"/>
          <p:cNvSpPr txBox="1"/>
          <p:nvPr/>
        </p:nvSpPr>
        <p:spPr>
          <a:xfrm>
            <a:off x="685800" y="440055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분류기 기반 적응형 안정화 구현, 네 가지 조건 비교 평가</a:t>
            </a:r>
          </a:p>
        </p:txBody>
      </p:sp>
      <p:sp>
        <p:nvSpPr>
          <p:cNvPr id="43" name="Shape 43"/>
          <p:cNvSpPr/>
          <p:nvPr/>
        </p:nvSpPr>
        <p:spPr>
          <a:xfrm>
            <a:off x="9227820" y="4324350"/>
            <a:ext cx="1661160" cy="285750"/>
          </a:xfrm>
          <a:prstGeom prst="roundRect">
            <a:avLst>
              <a:gd name="adj" fmla="val 26666"/>
            </a:avLst>
          </a:prstGeom>
          <a:solidFill>
            <a:srgbClr val="3B6FE0"/>
          </a:solidFill>
          <a:ln>
            <a:noFill/>
          </a:ln>
        </p:spPr>
      </p:sp>
      <p:cxnSp>
        <p:nvCxnSpPr>
          <p:cNvPr id="44" name="Line 44"/>
          <p:cNvCxnSpPr/>
          <p:nvPr/>
        </p:nvCxnSpPr>
        <p:spPr>
          <a:xfrm>
            <a:off x="685800" y="4876800"/>
            <a:ext cx="10820400" cy="0"/>
          </a:xfrm>
          <a:prstGeom prst="line">
            <a:avLst/>
          </a:prstGeom>
          <a:ln w="12700">
            <a:solidFill>
              <a:srgbClr val="DCE3F1"/>
            </a:solidFill>
          </a:ln>
        </p:spPr>
      </p:cxnSp>
      <p:sp>
        <p:nvSpPr>
          <p:cNvPr id="45" name="Shape 45"/>
          <p:cNvSpPr txBox="1"/>
          <p:nvPr/>
        </p:nvSpPr>
        <p:spPr>
          <a:xfrm>
            <a:off x="685800" y="4933950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600" b="1" dirty="0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13주차</a:t>
            </a:r>
          </a:p>
        </p:txBody>
      </p:sp>
      <p:sp>
        <p:nvSpPr>
          <p:cNvPr id="46" name="Shape 46"/>
          <p:cNvSpPr txBox="1"/>
          <p:nvPr/>
        </p:nvSpPr>
        <p:spPr>
          <a:xfrm>
            <a:off x="685800" y="520065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sz="1400" dirty="0">
                <a:solidFill>
                  <a:srgbClr val="1B2440"/>
                </a:solidFill>
                <a:latin typeface="맑은 고딕"/>
                <a:ea typeface="맑은 고딕"/>
                <a:cs typeface="맑은 고딕"/>
              </a:rPr>
              <a:t>결과 분석 및 발표 준비</a:t>
            </a:r>
          </a:p>
        </p:txBody>
      </p:sp>
      <p:sp>
        <p:nvSpPr>
          <p:cNvPr id="47" name="Shape 47"/>
          <p:cNvSpPr/>
          <p:nvPr/>
        </p:nvSpPr>
        <p:spPr>
          <a:xfrm>
            <a:off x="10965180" y="5124450"/>
            <a:ext cx="502920" cy="285750"/>
          </a:xfrm>
          <a:prstGeom prst="roundRect">
            <a:avLst>
              <a:gd name="adj" fmla="val 26666"/>
            </a:avLst>
          </a:prstGeom>
          <a:solidFill>
            <a:srgbClr val="12224A"/>
          </a:solidFill>
          <a:ln>
            <a:noFill/>
          </a:ln>
        </p:spPr>
      </p:sp>
      <p:cxnSp>
        <p:nvCxnSpPr>
          <p:cNvPr id="48" name="Line 48"/>
          <p:cNvCxnSpPr/>
          <p:nvPr/>
        </p:nvCxnSpPr>
        <p:spPr>
          <a:xfrm>
            <a:off x="685800" y="5676900"/>
            <a:ext cx="10820400" cy="0"/>
          </a:xfrm>
          <a:prstGeom prst="line">
            <a:avLst/>
          </a:prstGeom>
          <a:ln w="12700">
            <a:solidFill>
              <a:srgbClr val="DCE3F1"/>
            </a:solidFill>
          </a:ln>
        </p:spPr>
      </p:cxnSp>
      <p:sp>
        <p:nvSpPr>
          <p:cNvPr id="49" name="Shape 49"/>
          <p:cNvSpPr/>
          <p:nvPr/>
        </p:nvSpPr>
        <p:spPr>
          <a:xfrm>
            <a:off x="685800" y="5829300"/>
            <a:ext cx="10820400" cy="476250"/>
          </a:xfrm>
          <a:prstGeom prst="roundRect">
            <a:avLst>
              <a:gd name="adj" fmla="val 20000"/>
            </a:avLst>
          </a:prstGeom>
          <a:solidFill>
            <a:srgbClr val="dce7fb"/>
          </a:solidFill>
          <a:ln>
            <a:noFill/>
          </a:ln>
        </p:spPr>
        <p:txBody>
          <a:bodyPr wrap="square" lIns="228600" tIns="0" rIns="228600" bIns="0" anchor="ctr">
            <a:noAutofit/>
          </a:bodyPr>
          <a:lstStyle/>
          <a:p>
            <a: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sz="1500" b="1">
                <a:solidFill>
                  <a:srgbClr val="12224a"/>
                </a:solidFill>
                <a:latin typeface="맑은 고딕"/>
                <a:ea typeface="맑은 고딕"/>
                <a:cs typeface="맑은 고딕"/>
              </a:rPr>
              <a:t>최소 목표: 기록 앱 + 기본 안정화 + 무보정·갤럭시와의 비교까지. 적응형과 확장은 시간이 되는 만큼 진행</a:t>
            </a:r>
            <a:endParaRPr lang="ko-KR" sz="1500" b="1">
              <a:solidFill>
                <a:srgbClr val="12224a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Custom">
  <a:themeElements>
    <a:clrScheme name="Custom">
      <a:dk1>
        <a:sysClr val="windowText" lastClr="000000"/>
      </a:dk1>
      <a:lt1>
        <a:sysClr val="window" lastClr="ffffff"/>
      </a:lt1>
      <a:dk2>
        <a:srgbClr val="12224a"/>
      </a:dk2>
      <a:lt2>
        <a:srgbClr val="dce7fb"/>
      </a:lt2>
      <a:accent1>
        <a:srgbClr val="12224a"/>
      </a:accent1>
      <a:accent2>
        <a:srgbClr val="dce7fb"/>
      </a:accent2>
      <a:accent3>
        <a:srgbClr val="e39b2d"/>
      </a:accent3>
      <a:accent4>
        <a:srgbClr val="6b7591"/>
      </a:accent4>
      <a:accent5>
        <a:srgbClr val="f3f6fc"/>
      </a:accent5>
      <a:accent6>
        <a:srgbClr val="1b2440"/>
      </a:accent6>
      <a:hlink>
        <a:srgbClr val="0563c1"/>
      </a:hlink>
      <a:folHlink>
        <a:srgbClr val="954f72"/>
      </a:folHlink>
    </a:clrScheme>
    <a:fontScheme name="Custom">
      <a:majorFont>
        <a:latin typeface="맑은 고딕"/>
        <a:ea typeface="맑은 고딕"/>
        <a:cs typeface="맑은 고딕"/>
      </a:majorFont>
      <a:minorFont>
        <a:latin typeface="맑은 고딕"/>
        <a:ea typeface="맑은 고딕"/>
        <a:cs typeface="맑은 고딕"/>
      </a:minorFont>
    </a:fontScheme>
    <a:fmtScheme name="Custo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825</ep:Words>
  <ep:PresentationFormat/>
  <ep:Paragraphs>199</ep:Paragraphs>
  <ep:Slides>11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ep:HeadingPairs>
  <ep:TitlesOfParts>
    <vt:vector size="12" baseType="lpstr">
      <vt:lpstr>Custom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gyuyoung</dc:creator>
  <cp:lastModifiedBy>gyuyoung</cp:lastModifiedBy>
  <dcterms:modified xsi:type="dcterms:W3CDTF">2026-09-20T12:45:55.385</dcterms:modified>
  <cp:revision>6</cp:revision>
  <dc:title>폰 센서 기반 영상 손떨림 보정(EIS)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